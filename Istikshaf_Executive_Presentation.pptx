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Judges and energy sector leaders: Every year, over 520 Billion Rupees vanishes from Pakistan's power grid into thin air. It is called Non-Technical Loss—power theft, illegal hookups, and meter tampering. It is the primary engine behind Pakistan's crippling 2.65 Trillion Rupee circular debt. Today, we present Istikshaf: an autonomous, physics-grounded enterprise AI platform that transforms revenue protection from blind manual spot-checks into precision enforcement.</a:t>
            </a:r>
          </a:p>
          <a:p/>
          <a:p>
            <a:r>
              <a:t>ANTICIPATED JUDGE Q&amp;A DEFENSE:</a:t>
            </a:r>
          </a:p>
          <a:p>
            <a:r>
              <a:t>Q: Why hasn't this been solved by smart meters?</a:t>
            </a:r>
          </a:p>
          <a:p>
            <a:r>
              <a:t>A: Because 65% of Pakistan's grid relies on legacy analog meters, and national AMI rollout will take 15 years. Istikshaf is engineered as a dual-track architecture: it solves grid theft on legacy analog meters today with 69.7% precision, while instantly unlocking a 5.5x detection surge when smart meters are connected.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Why are DISCOs losing this war? Because current inspection teams operate blindly. Linemen conduct manual spot-checks that yield a pathetic 3.6% hit rate. When load-shedding strikes, power drops across the feeder—naive AI flags the entire street as thieves. When a homeowner installs solar, naive software triggers a police raid. Meanwhile, organized syndicates bypass meters during peak hours with complete impunity. DISCOs are hemorrhaging cash while flying blind.</a:t>
            </a:r>
          </a:p>
          <a:p/>
          <a:p>
            <a:r>
              <a:t>ANTICIPATED JUDGE Q&amp;A DEFENSE:</a:t>
            </a:r>
          </a:p>
          <a:p>
            <a:r>
              <a:t>Q: How do you handle corruption among meter readers?</a:t>
            </a:r>
          </a:p>
          <a:p>
            <a:r>
              <a:t>A: Meter readers collude by under-reporting billed units in handheld terminals. But energy cannot vanish: our transformer totalizer energy conservation law compares total PMT power against the sum of billed units, exposing reader route discrepancies mathematically without relying on honest reporting.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You cannot solve national problems with toy datasets or Chinese research dumps that lack grid hierarchy. We built the Istikshaf Dual-Track dataset: 10,000 consumers across 30 feeders and 300 transformers over 3 full years. Track 1 captures current monthly billing reality. Track 2 models high-frequency smart meters: 51.8 million hourly readings compressed into 322 megabytes of Parquet. Every transformer satisfies the first law of thermodynamics.</a:t>
            </a:r>
          </a:p>
          <a:p/>
          <a:p>
            <a:r>
              <a:t>ANTICIPATED JUDGE Q&amp;A DEFENSE:</a:t>
            </a:r>
          </a:p>
          <a:p>
            <a:r>
              <a:t>Q: Why did you build a synthetic dataset instead of using raw DISCO files?</a:t>
            </a:r>
          </a:p>
          <a:p>
            <a:r>
              <a:t>A: Raw DISCO billing files are legally classified under NEPRA regulations. More critically, historical utility raid logs are deeply corrupted by bribes—training an AI on historical DISCO tickets trains it on historical bribery. Our dataset provides rigorous, physically grounded ground truth adhering to thermodynamic dissipation laws.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Theft in Pakistan is not random. It follows distinct behavioral strategies. We modeled 14 precise archetypes. The 'Slab Defender' bypasses the meter only when approaching 200 units to evade NEPRA's punitive pricing cliff. The 'Peak Shaver' disconnects strictly between 6 PM and 10 PM. Crucially, we model legitimate confounders like solar prosumers and village travelers, ensuring honest families are never wrongfully accused.</a:t>
            </a:r>
          </a:p>
          <a:p/>
          <a:p>
            <a:r>
              <a:t>ANTICIPATED JUDGE Q&amp;A DEFENSE:</a:t>
            </a:r>
          </a:p>
          <a:p>
            <a:r>
              <a:t>Q: How do you differentiate a family travelling to their village from someone installing a kunda?</a:t>
            </a:r>
          </a:p>
          <a:p>
            <a:r>
              <a:t>A: A traveling family has near-zero consumption across all 24 hours of the day including peak hours, and returns to baseline in month 2 or 3. A kunda tap maintains daytime active draw while flattening specific windows or dropping baseline permanently without rebounding.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our architecture is unmatched. We combine unsupervised and supervised intelligence. An Out-of-Fold Isolation Forest scans for 'unknown unknowns'—brand-new tampering tricks never seen in training. That signal feeds into an extreme gradient-boosted ensemble tuned with an asymmetric 11.5x penalty on missed theft. Finally, a frozen Platt Scaler calibrates the outputs into true probabilities that utility executives can stake their budgets on.</a:t>
            </a:r>
          </a:p>
          <a:p/>
          <a:p>
            <a:r>
              <a:t>ANTICIPATED JUDGE Q&amp;A DEFENSE:</a:t>
            </a:r>
          </a:p>
          <a:p>
            <a:r>
              <a:t>Q: Why use Platt Scaling instead of Isotonic Regression?</a:t>
            </a:r>
          </a:p>
          <a:p>
            <a:r>
              <a:t>A: Isotonic regression is non-parametric and prone to severe overfitting on imbalanced calibration sets. Platt scaling fits a smooth sigmoid curve that preserves rank ordering while providing reliable probability bounds.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We engineered 19 domain-grounded features. Our vectorized CUSUM algorithm detects the exact month a bypass began, without leaking future data. Our clean baseline anchor prevents rolling averages from absorbing stolen power. And our uptime-discount feature normalizes consumer draw against feeder availability, meaning load shedding never triggers a false alarm.</a:t>
            </a:r>
          </a:p>
          <a:p/>
          <a:p>
            <a:r>
              <a:t>ANTICIPATED JUDGE Q&amp;A DEFENSE:</a:t>
            </a:r>
          </a:p>
          <a:p>
            <a:r>
              <a:t>Q: How does CUSUM prevent data leakage in training?</a:t>
            </a:r>
          </a:p>
          <a:p>
            <a:r>
              <a:t>A: For any month t, CUSUM evaluates strictly the history from month 1 to t. It never uses future billing cycles to compute running means or cumulative sums, ensuring zero temporal data leakage.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The numbers prove our superiority. In standard monthly grids, Istikshaf delivers 69.7% precision—a 19.3-fold increase in raid efficiency over current utility spot-checks. When smart meters are introduced, our streaming engine more than doubles recall to 45.7% and achieves a 5.5x increase in catching peak-hour evaders. All while delivering a zero-percent false alarm rate on solar homes.</a:t>
            </a:r>
          </a:p>
          <a:p/>
          <a:p>
            <a:r>
              <a:t>ANTICIPATED JUDGE Q&amp;A DEFENSE:</a:t>
            </a:r>
          </a:p>
          <a:p>
            <a:r>
              <a:t>Q: Why is precision 49.3% on the smart-meter set compared to 69.7% on monthly?</a:t>
            </a:r>
          </a:p>
          <a:p>
            <a:r>
              <a:t>A: The smart meter subset specifically tests high-difficulty evasive archetypes like peak-shavers and night AC bypasses that are virtually invisible on monthly bills. Catching 58.3% of peak shavers vs 10.6% on monthly represents an enormous operational gain.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A probability score on a dashboard recovers zero rupees. That is why we built the Istikshaf 8-Agent Swarm. The Confound Agent verifies feeder uptime. The Dedup Guard ensures crews aren't dispatched twice to the same site. The Recidivism Agent tracks repeat offenders. And our Soft-Warning Agent automatically nudges medium-risk consumers via SMS, recovering revenue before spending raid resources.</a:t>
            </a:r>
          </a:p>
          <a:p/>
          <a:p>
            <a:r>
              <a:t>ANTICIPATED JUDGE Q&amp;A DEFENSE:</a:t>
            </a:r>
          </a:p>
          <a:p>
            <a:r>
              <a:t>Q: Why use autonomous agents instead of simple if-else code?</a:t>
            </a:r>
          </a:p>
          <a:p>
            <a:r>
              <a:t>A: Because utility operations require stateful, dynamic adjustments: checking live SQLite investigation dockets, adjusting seasonal thresholds based on ambient heat, generating bilingual natural language alerts, and maintaining cryptographic audit trails.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AI must be defensible in tribunal hearings and actionable for linemen who don't read English machine learning vectors. Using TreeSHAP, every inspection docket details the exact physical factors that triggered the alert. Our Urdu Localization Agent translates these technical attributions into natural Roman Urdu, sent directly to field inspectors' mobile phones via SMS. No guesswork, no ambiguity—just actionable intelligence.</a:t>
            </a:r>
          </a:p>
          <a:p/>
          <a:p>
            <a:r>
              <a:t>ANTICIPATED JUDGE Q&amp;A DEFENSE:</a:t>
            </a:r>
          </a:p>
          <a:p>
            <a:r>
              <a:t>Q: How do you know the Roman Urdu message is accurate?</a:t>
            </a:r>
          </a:p>
          <a:p>
            <a:r>
              <a:t>A: The Urdu Localization Agent uses constrained template generation grounded directly in the top-3 TreeSHAP feature attributions and PMT loss metrics, guaranteeing 100% factual accuracy without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We packaged this intelligence into Istikshaf Grid Noir—a tactical, dark-mode desktop command center engineered specifically for utility operations. Designed on an information-dense 12-column grid, it allows dispatchers to monitor transformer health, interact with our 3D grid digital twin, inspect consumer histories, and trigger enforcement raids with a single click.</a:t>
            </a:r>
          </a:p>
          <a:p/>
          <a:p>
            <a:r>
              <a:t>ANTICIPATED JUDGE Q&amp;A DEFENSE:</a:t>
            </a:r>
          </a:p>
          <a:p>
            <a:r>
              <a:t>Q: Can this run in low-bandwidth rural utility divisions?</a:t>
            </a:r>
          </a:p>
          <a:p>
            <a:r>
              <a:t>A: Yes. The frontend is built on lightweight React and Vite, using client-side WebGL rendering and compact JSON/Parquet streaming APIs that operate smoothly even on intermittent 3G cellular connections.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Let's talk economics. Today, DISCO inspection teams spend millions driving around aimlessly, finding theft on barely 3 out of every 100 inspections. With Istikshaf, 7 out of 10 raids catch verified theft. For a utility like LESCO, this translates to over 14 Billion Rupees in annual revenue recovery with a capital payback period of under 45 days. This is how we defeat circular debt.</a:t>
            </a:r>
          </a:p>
          <a:p/>
          <a:p>
            <a:r>
              <a:t>ANTICIPATED JUDGE Q&amp;A DEFENSE:</a:t>
            </a:r>
          </a:p>
          <a:p>
            <a:r>
              <a:t>Q: How do you handle consumers disputing their retroactive bills?</a:t>
            </a:r>
          </a:p>
          <a:p>
            <a:r>
              <a:t>A: Every single inspection dossier is accompanied by TreeSHAP feature attributions, CUSUM structural break timestamps, and transformer totalizer loss balances. This forms an ironclad, legally admissible evidentiary record in NEPRA consumer tribunals.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Istikshaf proves that national crises can be solved when cutting-edge artificial intelligence is grounded in electrical physics and domain reality. We have engineered a complete, physics-informed, autonomous revenue protection platform ready to recover billions for Pakistan's power sector. Thank you, and we welcome your questions.</a:t>
            </a:r>
          </a:p>
          <a:p/>
          <a:p>
            <a:r>
              <a:t>ANTICIPATED JUDGE Q&amp;A DEFENSE:</a:t>
            </a:r>
          </a:p>
          <a:p>
            <a:r>
              <a:t>Q: What are your immediate deployment milestones?</a:t>
            </a:r>
          </a:p>
          <a:p>
            <a:r>
              <a:t>A: Phase 1: 90-day pilot deployment on 5 high-loss 11kV feeders in LESCO (Lahore). Phase 2: Integration with DISCO CIS/billing databases. Phase 3: Nationwide scaling across all 10 DISCO jurisdictions.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914400"/>
            <a:ext cx="10728655" cy="36576"/>
          </a:xfrm>
          <a:prstGeom prst="rect">
            <a:avLst/>
          </a:prstGeom>
          <a:solidFill>
            <a:srgbClr val="B6F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728655" cy="2011680"/>
          </a:xfrm>
          <a:prstGeom prst="rect">
            <a:avLst/>
          </a:prstGeom>
          <a:noFill/>
        </p:spPr>
        <p:txBody>
          <a:bodyPr wrap="square">
            <a:spAutoFit/>
          </a:bodyPr>
          <a:lstStyle/>
          <a:p>
            <a:pPr>
              <a:defRPr sz="4400" b="1">
                <a:solidFill>
                  <a:srgbClr val="B6F542"/>
                </a:solidFill>
                <a:latin typeface="Trebuchet MS"/>
              </a:defRPr>
            </a:pPr>
            <a:r>
              <a:t>ISTIKSHAF  [ استکشاف ]</a:t>
            </a:r>
          </a:p>
          <a:p>
            <a:pPr>
              <a:spcBef>
                <a:spcPts val="800"/>
              </a:spcBef>
              <a:defRPr sz="2200" b="1">
                <a:solidFill>
                  <a:srgbClr val="E1E4D2"/>
                </a:solidFill>
                <a:latin typeface="Trebuchet MS"/>
              </a:defRPr>
            </a:pPr>
            <a:r>
              <a:t>Autonomous Agentic Revenue Protection &amp; Explainable Grid AI</a:t>
            </a:r>
          </a:p>
          <a:p>
            <a:pPr>
              <a:spcBef>
                <a:spcPts val="600"/>
              </a:spcBef>
              <a:defRPr sz="1300">
                <a:solidFill>
                  <a:srgbClr val="A0A891"/>
                </a:solidFill>
                <a:latin typeface="Segoe UI"/>
              </a:defRPr>
            </a:pPr>
            <a:r>
              <a:t>A Physics-Grounded Enterprise Intelligence Engine Defeating Non-Technical Losses across Pakistan's Power Grid</a:t>
            </a:r>
          </a:p>
        </p:txBody>
      </p:sp>
      <p:sp>
        <p:nvSpPr>
          <p:cNvPr id="5" name="Rounded Rectangle 4"/>
          <p:cNvSpPr/>
          <p:nvPr/>
        </p:nvSpPr>
        <p:spPr>
          <a:xfrm>
            <a:off x="731520" y="3657600"/>
            <a:ext cx="3291840" cy="210312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3785616"/>
            <a:ext cx="2962656" cy="1847088"/>
          </a:xfrm>
          <a:prstGeom prst="rect">
            <a:avLst/>
          </a:prstGeom>
          <a:noFill/>
        </p:spPr>
        <p:txBody>
          <a:bodyPr wrap="square" lIns="0" tIns="0" rIns="0" bIns="0">
            <a:spAutoFit/>
          </a:bodyPr>
          <a:lstStyle/>
          <a:p>
            <a:pPr>
              <a:defRPr sz="2800" b="1">
                <a:solidFill>
                  <a:srgbClr val="FFB4AB"/>
                </a:solidFill>
                <a:latin typeface="Trebuchet MS"/>
              </a:defRPr>
            </a:pPr>
            <a:r>
              <a:t>PKR 2.65T</a:t>
            </a:r>
          </a:p>
          <a:p>
            <a:pPr>
              <a:spcBef>
                <a:spcPts val="400"/>
              </a:spcBef>
              <a:defRPr sz="950" b="1">
                <a:solidFill>
                  <a:srgbClr val="E1E4D2"/>
                </a:solidFill>
                <a:latin typeface="Segoe UI"/>
              </a:defRPr>
            </a:pPr>
            <a:r>
              <a:t>NATIONAL CIRCULAR DEBT</a:t>
            </a:r>
          </a:p>
          <a:p>
            <a:pPr>
              <a:spcBef>
                <a:spcPts val="200"/>
              </a:spcBef>
              <a:defRPr sz="850">
                <a:solidFill>
                  <a:srgbClr val="A0A891"/>
                </a:solidFill>
                <a:latin typeface="Segoe UI"/>
              </a:defRPr>
            </a:pPr>
            <a:r>
              <a:t>Suffocating Pakistan's fiscal stability and CPPA liquidity</a:t>
            </a:r>
          </a:p>
        </p:txBody>
      </p:sp>
      <p:sp>
        <p:nvSpPr>
          <p:cNvPr id="7" name="Rounded Rectangle 6"/>
          <p:cNvSpPr/>
          <p:nvPr/>
        </p:nvSpPr>
        <p:spPr>
          <a:xfrm>
            <a:off x="4389120" y="3657600"/>
            <a:ext cx="3291840" cy="210312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3712" y="3785616"/>
            <a:ext cx="2962656" cy="1847088"/>
          </a:xfrm>
          <a:prstGeom prst="rect">
            <a:avLst/>
          </a:prstGeom>
          <a:noFill/>
        </p:spPr>
        <p:txBody>
          <a:bodyPr wrap="square" lIns="0" tIns="0" rIns="0" bIns="0">
            <a:spAutoFit/>
          </a:bodyPr>
          <a:lstStyle/>
          <a:p>
            <a:pPr>
              <a:defRPr sz="2800" b="1">
                <a:solidFill>
                  <a:srgbClr val="FFA726"/>
                </a:solidFill>
                <a:latin typeface="Trebuchet MS"/>
              </a:defRPr>
            </a:pPr>
            <a:r>
              <a:t>PKR 520B+</a:t>
            </a:r>
          </a:p>
          <a:p>
            <a:pPr>
              <a:spcBef>
                <a:spcPts val="400"/>
              </a:spcBef>
              <a:defRPr sz="950" b="1">
                <a:solidFill>
                  <a:srgbClr val="E1E4D2"/>
                </a:solidFill>
                <a:latin typeface="Segoe UI"/>
              </a:defRPr>
            </a:pPr>
            <a:r>
              <a:t>ANNUAL REVENUE LOST</a:t>
            </a:r>
          </a:p>
          <a:p>
            <a:pPr>
              <a:spcBef>
                <a:spcPts val="200"/>
              </a:spcBef>
              <a:defRPr sz="850">
                <a:solidFill>
                  <a:srgbClr val="A0A891"/>
                </a:solidFill>
                <a:latin typeface="Segoe UI"/>
              </a:defRPr>
            </a:pPr>
            <a:r>
              <a:t>Stolen via kundas, meter bypasses, and billing fraud</a:t>
            </a:r>
          </a:p>
        </p:txBody>
      </p:sp>
      <p:sp>
        <p:nvSpPr>
          <p:cNvPr id="9" name="Rounded Rectangle 8"/>
          <p:cNvSpPr/>
          <p:nvPr/>
        </p:nvSpPr>
        <p:spPr>
          <a:xfrm>
            <a:off x="8046720" y="3657600"/>
            <a:ext cx="3413455" cy="210312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3785616"/>
            <a:ext cx="3084271" cy="1847088"/>
          </a:xfrm>
          <a:prstGeom prst="rect">
            <a:avLst/>
          </a:prstGeom>
          <a:noFill/>
        </p:spPr>
        <p:txBody>
          <a:bodyPr wrap="square" lIns="0" tIns="0" rIns="0" bIns="0">
            <a:spAutoFit/>
          </a:bodyPr>
          <a:lstStyle/>
          <a:p>
            <a:pPr>
              <a:defRPr sz="2800" b="1">
                <a:solidFill>
                  <a:srgbClr val="B6F542"/>
                </a:solidFill>
                <a:latin typeface="Trebuchet MS"/>
              </a:defRPr>
            </a:pPr>
            <a:r>
              <a:t>19.3x</a:t>
            </a:r>
          </a:p>
          <a:p>
            <a:pPr>
              <a:spcBef>
                <a:spcPts val="400"/>
              </a:spcBef>
              <a:defRPr sz="950" b="1">
                <a:solidFill>
                  <a:srgbClr val="E1E4D2"/>
                </a:solidFill>
                <a:latin typeface="Segoe UI"/>
              </a:defRPr>
            </a:pPr>
            <a:r>
              <a:t>FIELD RAID PRECISION MULTIPLIER</a:t>
            </a:r>
          </a:p>
          <a:p>
            <a:pPr>
              <a:spcBef>
                <a:spcPts val="200"/>
              </a:spcBef>
              <a:defRPr sz="850">
                <a:solidFill>
                  <a:srgbClr val="A0A891"/>
                </a:solidFill>
                <a:latin typeface="Segoe UI"/>
              </a:defRPr>
            </a:pPr>
            <a:r>
              <a:t>From 3.6% random spot checks to 69.7% targeted precision</a:t>
            </a:r>
          </a:p>
        </p:txBody>
      </p:sp>
      <p:sp>
        <p:nvSpPr>
          <p:cNvPr id="11" name="TextBox 10"/>
          <p:cNvSpPr txBox="1"/>
          <p:nvPr/>
        </p:nvSpPr>
        <p:spPr>
          <a:xfrm>
            <a:off x="731520" y="6172200"/>
            <a:ext cx="10728655" cy="365760"/>
          </a:xfrm>
          <a:prstGeom prst="rect">
            <a:avLst/>
          </a:prstGeom>
          <a:noFill/>
        </p:spPr>
        <p:txBody>
          <a:bodyPr wrap="none">
            <a:spAutoFit/>
          </a:bodyPr>
          <a:lstStyle/>
          <a:p>
            <a:pPr>
              <a:defRPr sz="950">
                <a:solidFill>
                  <a:srgbClr val="A0A891"/>
                </a:solidFill>
                <a:latin typeface="Consolas"/>
              </a:defRPr>
            </a:pPr>
            <a:r>
              <a:t>Hamza Sultan &amp; Team  |  System Architecture: Track 1 (Monthly Grid) &amp; Track 2 (51.8M High-Frequency AMI Engine)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MACRO ECONOMIC CRISIS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Anatomy of a Bleeding Grid: Why Current Utility Audits Fail</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10 Distribution Companies (DISCOs) lose between 12% and 38% of distributed power annually</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937760" cy="4206240"/>
          </a:xfrm>
          <a:prstGeom prst="rect">
            <a:avLst/>
          </a:prstGeom>
          <a:noFill/>
        </p:spPr>
        <p:txBody>
          <a:bodyPr wrap="square">
            <a:spAutoFit/>
          </a:bodyPr>
          <a:lstStyle/>
          <a:p>
            <a:pPr>
              <a:defRPr sz="1100" b="1">
                <a:solidFill>
                  <a:srgbClr val="FFB4AB"/>
                </a:solidFill>
                <a:latin typeface="Segoe UI"/>
              </a:defRPr>
            </a:pPr>
            <a:r>
              <a:t>• The 3.6% Random Audit Yield: </a:t>
            </a:r>
            <a:r>
              <a:rPr sz="1000" b="0">
                <a:solidFill>
                  <a:srgbClr val="A0A891"/>
                </a:solidFill>
                <a:latin typeface="Segoe UI"/>
              </a:rPr>
              <a:t>DISCO inspection teams conduct manual spot-checks that yield a meager 3.6% hit rate. Over 96 out of 100 field raids find nothing, wasting millions in logistics while corrupt syndicates operate untouched.</a:t>
            </a:r>
          </a:p>
          <a:p>
            <a:pPr>
              <a:spcBef>
                <a:spcPts val="800"/>
              </a:spcBef>
              <a:defRPr sz="1100" b="1">
                <a:solidFill>
                  <a:srgbClr val="FFA726"/>
                </a:solidFill>
                <a:latin typeface="Segoe UI"/>
              </a:defRPr>
            </a:pPr>
            <a:r>
              <a:t>• The Unscheduled Load-Shedding Confounder: </a:t>
            </a:r>
            <a:r>
              <a:rPr sz="1000" b="0">
                <a:solidFill>
                  <a:srgbClr val="A0A891"/>
                </a:solidFill>
                <a:latin typeface="Segoe UI"/>
              </a:rPr>
              <a:t>When feeder uptime drops to 75% during load shedding, entire neighborhoods show sudden drops in usage. Naive Western algorithms flag innocent entire streets as coordinated theft rings.</a:t>
            </a:r>
          </a:p>
          <a:p>
            <a:pPr>
              <a:spcBef>
                <a:spcPts val="800"/>
              </a:spcBef>
              <a:defRPr sz="1100" b="1">
                <a:solidFill>
                  <a:srgbClr val="45DCEB"/>
                </a:solidFill>
                <a:latin typeface="Segoe UI"/>
              </a:defRPr>
            </a:pPr>
            <a:r>
              <a:t>• The Rooftop Solar Duck Curve: </a:t>
            </a:r>
            <a:r>
              <a:rPr sz="1000" b="0">
                <a:solidFill>
                  <a:srgbClr val="A0A891"/>
                </a:solidFill>
                <a:latin typeface="Segoe UI"/>
              </a:rPr>
              <a:t>High electricity rates have caused a massive surge in rooftop net-metering. When daytime grid draw plunges 85%, naive models misinterpret green energy generation as criminal bypass.</a:t>
            </a:r>
          </a:p>
          <a:p>
            <a:pPr>
              <a:spcBef>
                <a:spcPts val="800"/>
              </a:spcBef>
              <a:defRPr sz="1100" b="1">
                <a:solidFill>
                  <a:srgbClr val="E1E4D2"/>
                </a:solidFill>
                <a:latin typeface="Segoe UI"/>
              </a:defRPr>
            </a:pPr>
            <a:r>
              <a:t>• The Analog Meter Reality: </a:t>
            </a:r>
            <a:r>
              <a:rPr sz="1000" b="0">
                <a:solidFill>
                  <a:srgbClr val="A0A891"/>
                </a:solidFill>
                <a:latin typeface="Segoe UI"/>
              </a:rPr>
              <a:t>65% of meters across LESCO, PESCO, and MEPCO are spinning aluminum discs with zero remote telemetry. You cannot deploy solutions that presuppose universal AMI connectivity.</a:t>
            </a:r>
          </a:p>
        </p:txBody>
      </p:sp>
      <p:pic>
        <p:nvPicPr>
          <p:cNvPr id="8" name="Picture 7" descr="disco_losses.png"/>
          <p:cNvPicPr>
            <a:picLocks noChangeAspect="1"/>
          </p:cNvPicPr>
          <p:nvPr/>
        </p:nvPicPr>
        <p:blipFill>
          <a:blip r:embed="rId2"/>
          <a:stretch>
            <a:fillRect/>
          </a:stretch>
        </p:blipFill>
        <p:spPr>
          <a:xfrm>
            <a:off x="6217920" y="1691640"/>
            <a:ext cx="5242255" cy="372031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ENTERPRISE DATA ENGINEERING</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51.8 Million Telemetry Engine: Grounded in Electrical Physics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The largest, most realistic, physically grounded synthetic power grid dataset built for the Global South</a:t>
            </a:r>
          </a:p>
        </p:txBody>
      </p:sp>
      <p:sp>
        <p:nvSpPr>
          <p:cNvPr id="6" name="Rounded Rectangle 5"/>
          <p:cNvSpPr/>
          <p:nvPr/>
        </p:nvSpPr>
        <p:spPr>
          <a:xfrm>
            <a:off x="731520" y="1691640"/>
            <a:ext cx="5303520" cy="2194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937760" cy="1920240"/>
          </a:xfrm>
          <a:prstGeom prst="rect">
            <a:avLst/>
          </a:prstGeom>
          <a:noFill/>
        </p:spPr>
        <p:txBody>
          <a:bodyPr wrap="square">
            <a:spAutoFit/>
          </a:bodyPr>
          <a:lstStyle/>
          <a:p>
            <a:pPr>
              <a:defRPr sz="1200" b="1">
                <a:solidFill>
                  <a:srgbClr val="B6F542"/>
                </a:solidFill>
                <a:latin typeface="Trebuchet MS"/>
              </a:defRPr>
            </a:pPr>
            <a:r>
              <a:t>TRACK 1: LEGACY GRID (10,000 CONSUMERS)</a:t>
            </a:r>
          </a:p>
          <a:p>
            <a:pPr>
              <a:spcBef>
                <a:spcPts val="400"/>
              </a:spcBef>
              <a:defRPr sz="1100" b="1">
                <a:solidFill>
                  <a:srgbClr val="E1E4D2"/>
                </a:solidFill>
                <a:latin typeface="Segoe UI"/>
              </a:defRPr>
            </a:pPr>
            <a:r>
              <a:t>• Grid Topology Hierarchy: </a:t>
            </a:r>
            <a:r>
              <a:rPr sz="1000" b="0">
                <a:solidFill>
                  <a:srgbClr val="A0A891"/>
                </a:solidFill>
                <a:latin typeface="Segoe UI"/>
              </a:rPr>
              <a:t>30 Primary 11kV Feeders, 300 Pole-Mounted Transformers (PMTs), and 10,000 consumers modeled over 36 consecutive months (360,000 comprehensive panel records).</a:t>
            </a:r>
          </a:p>
          <a:p>
            <a:pPr>
              <a:spcBef>
                <a:spcPts val="400"/>
              </a:spcBef>
              <a:defRPr sz="1100" b="1">
                <a:solidFill>
                  <a:srgbClr val="E1E4D2"/>
                </a:solidFill>
                <a:latin typeface="Segoe UI"/>
              </a:defRPr>
            </a:pPr>
            <a:r>
              <a:t>• Non-Linear I²R Physics: </a:t>
            </a:r>
            <a:r>
              <a:rPr sz="1000" b="0">
                <a:solidFill>
                  <a:srgbClr val="A0A891"/>
                </a:solidFill>
                <a:latin typeface="Segoe UI"/>
              </a:rPr>
              <a:t>Technical loss modeled as Max(0.00006 * Load^1.6, 0.02 * Load). First Law of Thermodynamics enforced: injected energy equals billed + stolen + technical dissipation (|Δ| &lt; 0.5 kWh).</a:t>
            </a:r>
          </a:p>
        </p:txBody>
      </p:sp>
      <p:sp>
        <p:nvSpPr>
          <p:cNvPr id="8" name="Rounded Rectangle 7"/>
          <p:cNvSpPr/>
          <p:nvPr/>
        </p:nvSpPr>
        <p:spPr>
          <a:xfrm>
            <a:off x="731520" y="4069080"/>
            <a:ext cx="5303520" cy="2194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206240"/>
            <a:ext cx="4937760" cy="1920240"/>
          </a:xfrm>
          <a:prstGeom prst="rect">
            <a:avLst/>
          </a:prstGeom>
          <a:noFill/>
        </p:spPr>
        <p:txBody>
          <a:bodyPr wrap="square">
            <a:spAutoFit/>
          </a:bodyPr>
          <a:lstStyle/>
          <a:p>
            <a:pPr>
              <a:defRPr sz="1200" b="1">
                <a:solidFill>
                  <a:srgbClr val="45DCEB"/>
                </a:solidFill>
                <a:latin typeface="Trebuchet MS"/>
              </a:defRPr>
            </a:pPr>
            <a:r>
              <a:t>TRACK 2: HIGH-FREQUENCY AMI STREAM (51.8M ROWS)</a:t>
            </a:r>
          </a:p>
          <a:p>
            <a:pPr>
              <a:spcBef>
                <a:spcPts val="400"/>
              </a:spcBef>
              <a:defRPr sz="1100" b="1">
                <a:solidFill>
                  <a:srgbClr val="E1E4D2"/>
                </a:solidFill>
                <a:latin typeface="Segoe UI"/>
              </a:defRPr>
            </a:pPr>
            <a:r>
              <a:t>• 51,819,270 Hourly Telemetry Records: </a:t>
            </a:r>
            <a:r>
              <a:rPr sz="1000" b="0">
                <a:solidFill>
                  <a:srgbClr val="A0A891"/>
                </a:solidFill>
                <a:latin typeface="Segoe UI"/>
              </a:rPr>
              <a:t>2,000 AMI smart-meter consumers disaggregated into 36 months of 1-hour interval readings, stored in a compressed 322 MB Snappy Parquet engine.</a:t>
            </a:r>
          </a:p>
          <a:p>
            <a:pPr>
              <a:spcBef>
                <a:spcPts val="400"/>
              </a:spcBef>
              <a:defRPr sz="1100" b="1">
                <a:solidFill>
                  <a:srgbClr val="E1E4D2"/>
                </a:solidFill>
                <a:latin typeface="Segoe UI"/>
              </a:defRPr>
            </a:pPr>
            <a:r>
              <a:t>• REWD-P Micro-Study Grounding: </a:t>
            </a:r>
            <a:r>
              <a:rPr sz="1000" b="0">
                <a:solidFill>
                  <a:srgbClr val="A0A891"/>
                </a:solidFill>
                <a:latin typeface="Segoe UI"/>
              </a:rPr>
              <a:t>Calibrated against empirical Pakistani residential load research, modeling diurnal double peaks, geyser spikes, AR(1) autocorrelation, and 1.5% cellular GPRS packet dropouts.</a:t>
            </a:r>
          </a:p>
        </p:txBody>
      </p:sp>
      <p:sp>
        <p:nvSpPr>
          <p:cNvPr id="10" name="Rounded Rectangle 9"/>
          <p:cNvSpPr/>
          <p:nvPr/>
        </p:nvSpPr>
        <p:spPr>
          <a:xfrm>
            <a:off x="6217920" y="1691640"/>
            <a:ext cx="2523744" cy="2194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819656"/>
            <a:ext cx="2194560" cy="1938528"/>
          </a:xfrm>
          <a:prstGeom prst="rect">
            <a:avLst/>
          </a:prstGeom>
          <a:noFill/>
        </p:spPr>
        <p:txBody>
          <a:bodyPr wrap="square" lIns="0" tIns="0" rIns="0" bIns="0">
            <a:spAutoFit/>
          </a:bodyPr>
          <a:lstStyle/>
          <a:p>
            <a:pPr>
              <a:defRPr sz="2800" b="1">
                <a:solidFill>
                  <a:srgbClr val="45DCEB"/>
                </a:solidFill>
                <a:latin typeface="Trebuchet MS"/>
              </a:defRPr>
            </a:pPr>
            <a:r>
              <a:t>51.8M</a:t>
            </a:r>
          </a:p>
          <a:p>
            <a:pPr>
              <a:spcBef>
                <a:spcPts val="400"/>
              </a:spcBef>
              <a:defRPr sz="950" b="1">
                <a:solidFill>
                  <a:srgbClr val="E1E4D2"/>
                </a:solidFill>
                <a:latin typeface="Segoe UI"/>
              </a:defRPr>
            </a:pPr>
            <a:r>
              <a:t>HOURLY INTERVAL STREAM</a:t>
            </a:r>
          </a:p>
          <a:p>
            <a:pPr>
              <a:spcBef>
                <a:spcPts val="200"/>
              </a:spcBef>
              <a:defRPr sz="850">
                <a:solidFill>
                  <a:srgbClr val="A0A891"/>
                </a:solidFill>
                <a:latin typeface="Segoe UI"/>
              </a:defRPr>
            </a:pPr>
            <a:r>
              <a:t>Compressed in 322MB Snappy Parquet</a:t>
            </a:r>
          </a:p>
        </p:txBody>
      </p:sp>
      <p:sp>
        <p:nvSpPr>
          <p:cNvPr id="12" name="Rounded Rectangle 11"/>
          <p:cNvSpPr/>
          <p:nvPr/>
        </p:nvSpPr>
        <p:spPr>
          <a:xfrm>
            <a:off x="8924544" y="1691640"/>
            <a:ext cx="2532888" cy="2194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89136" y="1819656"/>
            <a:ext cx="2203704" cy="1938528"/>
          </a:xfrm>
          <a:prstGeom prst="rect">
            <a:avLst/>
          </a:prstGeom>
          <a:noFill/>
        </p:spPr>
        <p:txBody>
          <a:bodyPr wrap="square" lIns="0" tIns="0" rIns="0" bIns="0">
            <a:spAutoFit/>
          </a:bodyPr>
          <a:lstStyle/>
          <a:p>
            <a:pPr>
              <a:defRPr sz="2800" b="1">
                <a:solidFill>
                  <a:srgbClr val="B6F542"/>
                </a:solidFill>
                <a:latin typeface="Trebuchet MS"/>
              </a:defRPr>
            </a:pPr>
            <a:r>
              <a:t>&lt; 0.5 kWh</a:t>
            </a:r>
          </a:p>
          <a:p>
            <a:pPr>
              <a:spcBef>
                <a:spcPts val="400"/>
              </a:spcBef>
              <a:defRPr sz="950" b="1">
                <a:solidFill>
                  <a:srgbClr val="E1E4D2"/>
                </a:solidFill>
                <a:latin typeface="Segoe UI"/>
              </a:defRPr>
            </a:pPr>
            <a:r>
              <a:t>THERMODYNAMIC BALANCE</a:t>
            </a:r>
          </a:p>
          <a:p>
            <a:pPr>
              <a:spcBef>
                <a:spcPts val="200"/>
              </a:spcBef>
              <a:defRPr sz="850">
                <a:solidFill>
                  <a:srgbClr val="A0A891"/>
                </a:solidFill>
                <a:latin typeface="Segoe UI"/>
              </a:defRPr>
            </a:pPr>
            <a:r>
              <a:t>Conservation law across all 300 PMTs</a:t>
            </a:r>
          </a:p>
        </p:txBody>
      </p:sp>
      <p:sp>
        <p:nvSpPr>
          <p:cNvPr id="14" name="Rounded Rectangle 13"/>
          <p:cNvSpPr/>
          <p:nvPr/>
        </p:nvSpPr>
        <p:spPr>
          <a:xfrm>
            <a:off x="6217920" y="4069080"/>
            <a:ext cx="2523744" cy="2194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4197096"/>
            <a:ext cx="2194560" cy="1938528"/>
          </a:xfrm>
          <a:prstGeom prst="rect">
            <a:avLst/>
          </a:prstGeom>
          <a:noFill/>
        </p:spPr>
        <p:txBody>
          <a:bodyPr wrap="square" lIns="0" tIns="0" rIns="0" bIns="0">
            <a:spAutoFit/>
          </a:bodyPr>
          <a:lstStyle/>
          <a:p>
            <a:pPr>
              <a:defRPr sz="2800" b="1">
                <a:solidFill>
                  <a:srgbClr val="FFA726"/>
                </a:solidFill>
                <a:latin typeface="Trebuchet MS"/>
              </a:defRPr>
            </a:pPr>
            <a:r>
              <a:t>5.5 Mins</a:t>
            </a:r>
          </a:p>
          <a:p>
            <a:pPr>
              <a:spcBef>
                <a:spcPts val="400"/>
              </a:spcBef>
              <a:defRPr sz="950" b="1">
                <a:solidFill>
                  <a:srgbClr val="E1E4D2"/>
                </a:solidFill>
                <a:latin typeface="Segoe UI"/>
              </a:defRPr>
            </a:pPr>
            <a:r>
              <a:t>OUT-OF-CORE ETL STREAM</a:t>
            </a:r>
          </a:p>
          <a:p>
            <a:pPr>
              <a:spcBef>
                <a:spcPts val="200"/>
              </a:spcBef>
              <a:defRPr sz="850">
                <a:solidFill>
                  <a:srgbClr val="A0A891"/>
                </a:solidFill>
                <a:latin typeface="Segoe UI"/>
              </a:defRPr>
            </a:pPr>
            <a:r>
              <a:t>Zero-leakage streaming in &lt;200MB RAM</a:t>
            </a:r>
          </a:p>
        </p:txBody>
      </p:sp>
      <p:sp>
        <p:nvSpPr>
          <p:cNvPr id="16" name="Rounded Rectangle 15"/>
          <p:cNvSpPr/>
          <p:nvPr/>
        </p:nvSpPr>
        <p:spPr>
          <a:xfrm>
            <a:off x="8924544" y="4069080"/>
            <a:ext cx="2532888" cy="2194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89136" y="4197096"/>
            <a:ext cx="2203704" cy="1938528"/>
          </a:xfrm>
          <a:prstGeom prst="rect">
            <a:avLst/>
          </a:prstGeom>
          <a:noFill/>
        </p:spPr>
        <p:txBody>
          <a:bodyPr wrap="square" lIns="0" tIns="0" rIns="0" bIns="0">
            <a:spAutoFit/>
          </a:bodyPr>
          <a:lstStyle/>
          <a:p>
            <a:pPr>
              <a:defRPr sz="2800" b="1">
                <a:solidFill>
                  <a:srgbClr val="FFB4AB"/>
                </a:solidFill>
                <a:latin typeface="Trebuchet MS"/>
              </a:defRPr>
            </a:pPr>
            <a:r>
              <a:t>14 Classes</a:t>
            </a:r>
          </a:p>
          <a:p>
            <a:pPr>
              <a:spcBef>
                <a:spcPts val="400"/>
              </a:spcBef>
              <a:defRPr sz="950" b="1">
                <a:solidFill>
                  <a:srgbClr val="E1E4D2"/>
                </a:solidFill>
                <a:latin typeface="Segoe UI"/>
              </a:defRPr>
            </a:pPr>
            <a:r>
              <a:t>BEHAVIORAL ARCHETYPES</a:t>
            </a:r>
          </a:p>
          <a:p>
            <a:pPr>
              <a:spcBef>
                <a:spcPts val="200"/>
              </a:spcBef>
              <a:defRPr sz="850">
                <a:solidFill>
                  <a:srgbClr val="A0A891"/>
                </a:solidFill>
                <a:latin typeface="Segoe UI"/>
              </a:defRPr>
            </a:pPr>
            <a:r>
              <a:t>8 theft modes &amp; 6 real confounders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DOMAIN INTELLIGENCE</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Unmasking 14 Behavioral Archetypes: Theft Vectors vs. Confounders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Modeling both illicit tampering strategies and legitimate grid confounders with precision</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937760" cy="4297680"/>
          </a:xfrm>
          <a:prstGeom prst="rect">
            <a:avLst/>
          </a:prstGeom>
          <a:noFill/>
        </p:spPr>
        <p:txBody>
          <a:bodyPr wrap="square">
            <a:spAutoFit/>
          </a:bodyPr>
          <a:lstStyle/>
          <a:p>
            <a:pPr>
              <a:defRPr sz="1100" b="1">
                <a:solidFill>
                  <a:srgbClr val="FFB4AB"/>
                </a:solidFill>
                <a:latin typeface="Trebuchet MS"/>
              </a:defRPr>
            </a:pPr>
            <a:r>
              <a:t>ILLICIT THEFT ARCHETYPES (8.0% GROUND TRUTH)</a:t>
            </a:r>
          </a:p>
          <a:p>
            <a:pPr>
              <a:spcBef>
                <a:spcPts val="300"/>
              </a:spcBef>
              <a:defRPr sz="1100" b="1">
                <a:solidFill>
                  <a:srgbClr val="E1E4D2"/>
                </a:solidFill>
                <a:latin typeface="Segoe UI"/>
              </a:defRPr>
            </a:pPr>
            <a:r>
              <a:t>• Slab Defender (150): </a:t>
            </a:r>
            <a:r>
              <a:rPr sz="1000" b="0">
                <a:solidFill>
                  <a:srgbClr val="A0A891"/>
                </a:solidFill>
                <a:latin typeface="Segoe UI"/>
              </a:rPr>
              <a:t>Bypasses meter only when monthly consumption nears 200/300 kWh, pinning the meter reading below NEPRA punitive tariff slab jumps.</a:t>
            </a:r>
          </a:p>
          <a:p>
            <a:pPr>
              <a:spcBef>
                <a:spcPts val="300"/>
              </a:spcBef>
              <a:defRPr sz="1100" b="1">
                <a:solidFill>
                  <a:srgbClr val="E1E4D2"/>
                </a:solidFill>
                <a:latin typeface="Segoe UI"/>
              </a:defRPr>
            </a:pPr>
            <a:r>
              <a:t>• Peak Hour Shaver (100): </a:t>
            </a:r>
            <a:r>
              <a:rPr sz="1000" b="0">
                <a:solidFill>
                  <a:srgbClr val="A0A891"/>
                </a:solidFill>
                <a:latin typeface="Segoe UI"/>
              </a:rPr>
              <a:t>Shunts power strictly during high-cost peak hours (6 PM-10 PM), invisible in monthly billing totals but blazing in hourly interval curves.</a:t>
            </a:r>
          </a:p>
          <a:p>
            <a:pPr>
              <a:spcBef>
                <a:spcPts val="300"/>
              </a:spcBef>
              <a:defRPr sz="1100" b="1">
                <a:solidFill>
                  <a:srgbClr val="E1E4D2"/>
                </a:solidFill>
                <a:latin typeface="Segoe UI"/>
              </a:defRPr>
            </a:pPr>
            <a:r>
              <a:t>• Nighttime AC Shunt (120): </a:t>
            </a:r>
            <a:r>
              <a:rPr sz="1000" b="0">
                <a:solidFill>
                  <a:srgbClr val="A0A891"/>
                </a:solidFill>
                <a:latin typeface="Segoe UI"/>
              </a:rPr>
              <a:t>Uses normal power during day; flips an unmetered bypass switch at night during summer heatwaves to run heavy bedroom ACs.</a:t>
            </a:r>
          </a:p>
          <a:p>
            <a:pPr>
              <a:spcBef>
                <a:spcPts val="300"/>
              </a:spcBef>
              <a:defRPr sz="1100" b="1">
                <a:solidFill>
                  <a:srgbClr val="E1E4D2"/>
                </a:solidFill>
                <a:latin typeface="Segoe UI"/>
              </a:defRPr>
            </a:pPr>
            <a:r>
              <a:t>• Direct Kunda &amp; Shunt (250): </a:t>
            </a:r>
            <a:r>
              <a:rPr sz="1000" b="0">
                <a:solidFill>
                  <a:srgbClr val="A0A891"/>
                </a:solidFill>
                <a:latin typeface="Segoe UI"/>
              </a:rPr>
              <a:t>Escalating 5-stage bare wire hookups over low-voltage lines and internal CT hardware shunt resistors.</a:t>
            </a:r>
          </a:p>
          <a:p>
            <a:pPr>
              <a:spcBef>
                <a:spcPts val="800"/>
              </a:spcBef>
              <a:defRPr sz="1100" b="1">
                <a:solidFill>
                  <a:srgbClr val="B6F542"/>
                </a:solidFill>
                <a:latin typeface="Trebuchet MS"/>
              </a:defRPr>
            </a:pPr>
            <a:r>
              <a:t>LEGITIMATE CONFOUNDERS (92.0% INNOCENT POPULATION)</a:t>
            </a:r>
          </a:p>
          <a:p>
            <a:pPr>
              <a:spcBef>
                <a:spcPts val="300"/>
              </a:spcBef>
              <a:defRPr sz="1100" b="1">
                <a:solidFill>
                  <a:srgbClr val="E1E4D2"/>
                </a:solidFill>
                <a:latin typeface="Segoe UI"/>
              </a:defRPr>
            </a:pPr>
            <a:r>
              <a:t>• Solar Prosumer (1,200): </a:t>
            </a:r>
            <a:r>
              <a:rPr sz="1000" b="0">
                <a:solidFill>
                  <a:srgbClr val="A0A891"/>
                </a:solidFill>
                <a:latin typeface="Segoe UI"/>
              </a:rPr>
              <a:t>Produces strong midday generation drop (the duck curve). Handled via net-metering gating to eliminate false alarms (0.00% FPR).</a:t>
            </a:r>
          </a:p>
          <a:p>
            <a:pPr>
              <a:spcBef>
                <a:spcPts val="300"/>
              </a:spcBef>
              <a:defRPr sz="1100" b="1">
                <a:solidFill>
                  <a:srgbClr val="E1E4D2"/>
                </a:solidFill>
                <a:latin typeface="Segoe UI"/>
              </a:defRPr>
            </a:pPr>
            <a:r>
              <a:t>• Seasonal Traveler &amp; Inverter Upgrade (600): </a:t>
            </a:r>
            <a:r>
              <a:rPr sz="1000" b="0">
                <a:solidFill>
                  <a:srgbClr val="A0A891"/>
                </a:solidFill>
                <a:latin typeface="Segoe UI"/>
              </a:rPr>
              <a:t>Extended village visits (1-3 month drops) and permanent 25% reductions from inverter AC retrofits, isolated from fraudulent tampering.</a:t>
            </a:r>
          </a:p>
        </p:txBody>
      </p:sp>
      <p:pic>
        <p:nvPicPr>
          <p:cNvPr id="8" name="Picture 7" descr="diurnal_theft_signatures.png"/>
          <p:cNvPicPr>
            <a:picLocks noChangeAspect="1"/>
          </p:cNvPicPr>
          <p:nvPr/>
        </p:nvPicPr>
        <p:blipFill>
          <a:blip r:embed="rId2"/>
          <a:stretch>
            <a:fillRect/>
          </a:stretch>
        </p:blipFill>
        <p:spPr>
          <a:xfrm>
            <a:off x="6217920" y="1691640"/>
            <a:ext cx="5242255" cy="372031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SYSTEM ARCHITECTURE</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Two-Stage Hybrid Inference Engine: Unsupervised + Cost-Sensitive ML</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Combining zero-day tamper detection with calibrated probability bounds</a:t>
            </a:r>
          </a:p>
        </p:txBody>
      </p:sp>
      <p:sp>
        <p:nvSpPr>
          <p:cNvPr id="6" name="Rounded Rectangle 5"/>
          <p:cNvSpPr/>
          <p:nvPr/>
        </p:nvSpPr>
        <p:spPr>
          <a:xfrm>
            <a:off x="731520" y="1737360"/>
            <a:ext cx="329184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2926080" cy="4114800"/>
          </a:xfrm>
          <a:prstGeom prst="rect">
            <a:avLst/>
          </a:prstGeom>
          <a:noFill/>
        </p:spPr>
        <p:txBody>
          <a:bodyPr wrap="square">
            <a:spAutoFit/>
          </a:bodyPr>
          <a:lstStyle/>
          <a:p>
            <a:pPr>
              <a:defRPr sz="1150" b="1">
                <a:solidFill>
                  <a:srgbClr val="45DCEB"/>
                </a:solidFill>
                <a:latin typeface="Trebuchet MS"/>
              </a:defRPr>
            </a:pPr>
            <a:r>
              <a:t>STAGE 1: UNSUPERVISED ISOLATION FOREST</a:t>
            </a:r>
          </a:p>
          <a:p>
            <a:pPr>
              <a:spcBef>
                <a:spcPts val="800"/>
              </a:spcBef>
              <a:defRPr sz="1100" b="1">
                <a:solidFill>
                  <a:srgbClr val="E1E4D2"/>
                </a:solidFill>
                <a:latin typeface="Segoe UI"/>
              </a:defRPr>
            </a:pPr>
            <a:r>
              <a:t>• Zero-Day Tamper Catching: </a:t>
            </a:r>
            <a:r>
              <a:rPr sz="1000" b="0">
                <a:solidFill>
                  <a:srgbClr val="A0A891"/>
                </a:solidFill>
                <a:latin typeface="Segoe UI"/>
              </a:rPr>
              <a:t>Standard supervised models only recognize historical frauds. Isolation Forest isolates abnormal multidimensional geometry.</a:t>
            </a:r>
          </a:p>
          <a:p>
            <a:pPr>
              <a:spcBef>
                <a:spcPts val="800"/>
              </a:spcBef>
              <a:defRPr sz="1100" b="1">
                <a:solidFill>
                  <a:srgbClr val="E1E4D2"/>
                </a:solidFill>
                <a:latin typeface="Segoe UI"/>
              </a:defRPr>
            </a:pPr>
            <a:r>
              <a:t>• 5-Fold GroupKFold Validation: </a:t>
            </a:r>
            <a:r>
              <a:rPr sz="1000" b="0">
                <a:solidFill>
                  <a:srgbClr val="A0A891"/>
                </a:solidFill>
                <a:latin typeface="Segoe UI"/>
              </a:rPr>
              <a:t>Trained strictly grouped by consumer_id across 36 months, preventing temporal or consumer leakage.</a:t>
            </a:r>
          </a:p>
          <a:p>
            <a:pPr>
              <a:spcBef>
                <a:spcPts val="800"/>
              </a:spcBef>
              <a:defRPr sz="1100" b="1">
                <a:solidFill>
                  <a:srgbClr val="E1E4D2"/>
                </a:solidFill>
                <a:latin typeface="Segoe UI"/>
              </a:defRPr>
            </a:pPr>
            <a:r>
              <a:t>• Out-of-Fold Anomaly Score: </a:t>
            </a:r>
            <a:r>
              <a:rPr sz="1000" b="0">
                <a:solidFill>
                  <a:srgbClr val="A0A891"/>
                </a:solidFill>
                <a:latin typeface="Segoe UI"/>
              </a:rPr>
              <a:t>Generates an unbiased out-of-fold score (`iso_forest_oof_score`) fed directly as a feature into the Stage 2 classifier.</a:t>
            </a:r>
          </a:p>
        </p:txBody>
      </p:sp>
      <p:sp>
        <p:nvSpPr>
          <p:cNvPr id="8" name="Rounded Rectangle 7"/>
          <p:cNvSpPr/>
          <p:nvPr/>
        </p:nvSpPr>
        <p:spPr>
          <a:xfrm>
            <a:off x="4389120" y="1737360"/>
            <a:ext cx="329184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2926080" cy="4114800"/>
          </a:xfrm>
          <a:prstGeom prst="rect">
            <a:avLst/>
          </a:prstGeom>
          <a:noFill/>
        </p:spPr>
        <p:txBody>
          <a:bodyPr wrap="square">
            <a:spAutoFit/>
          </a:bodyPr>
          <a:lstStyle/>
          <a:p>
            <a:pPr>
              <a:defRPr sz="1150" b="1">
                <a:solidFill>
                  <a:srgbClr val="B6F542"/>
                </a:solidFill>
                <a:latin typeface="Trebuchet MS"/>
              </a:defRPr>
            </a:pPr>
            <a:r>
              <a:t>STAGE 2: COST-WEIGHTED XGBOOST</a:t>
            </a:r>
          </a:p>
          <a:p>
            <a:pPr>
              <a:spcBef>
                <a:spcPts val="800"/>
              </a:spcBef>
              <a:defRPr sz="1100" b="1">
                <a:solidFill>
                  <a:srgbClr val="E1E4D2"/>
                </a:solidFill>
                <a:latin typeface="Segoe UI"/>
              </a:defRPr>
            </a:pPr>
            <a:r>
              <a:t>• Asymmetric Loss Optimization: </a:t>
            </a:r>
            <a:r>
              <a:rPr sz="1000" b="0">
                <a:solidFill>
                  <a:srgbClr val="A0A891"/>
                </a:solidFill>
                <a:latin typeface="Segoe UI"/>
              </a:rPr>
              <a:t>With 8.0% positive class imbalance, standard trees ignore theft. We enforce scale_pos_weight = 11.5, penalizing missed theft 11.5x more than false alarms.</a:t>
            </a:r>
          </a:p>
          <a:p>
            <a:pPr>
              <a:spcBef>
                <a:spcPts val="800"/>
              </a:spcBef>
              <a:defRPr sz="1100" b="1">
                <a:solidFill>
                  <a:srgbClr val="E1E4D2"/>
                </a:solidFill>
                <a:latin typeface="Segoe UI"/>
              </a:defRPr>
            </a:pPr>
            <a:r>
              <a:t>• Multi-Modal Feature Fusion: </a:t>
            </a:r>
            <a:r>
              <a:rPr sz="1000" b="0">
                <a:solidFill>
                  <a:srgbClr val="A0A891"/>
                </a:solidFill>
                <a:latin typeface="Segoe UI"/>
              </a:rPr>
              <a:t>Combines Stage 1 anomaly scores with 12 Track 1 grid features and 7 Track 2 interval load ratios.</a:t>
            </a:r>
          </a:p>
          <a:p>
            <a:pPr>
              <a:spcBef>
                <a:spcPts val="800"/>
              </a:spcBef>
              <a:defRPr sz="1100" b="1">
                <a:solidFill>
                  <a:srgbClr val="E1E4D2"/>
                </a:solidFill>
                <a:latin typeface="Segoe UI"/>
              </a:defRPr>
            </a:pPr>
            <a:r>
              <a:t>• TreeSHAP Explainer Engine: </a:t>
            </a:r>
            <a:r>
              <a:rPr sz="1000" b="0">
                <a:solidFill>
                  <a:srgbClr val="A0A891"/>
                </a:solidFill>
                <a:latin typeface="Segoe UI"/>
              </a:rPr>
              <a:t>Extracts local Shapley value attributions for every single decision, producing tribunal-grade evidence dockets.</a:t>
            </a:r>
          </a:p>
        </p:txBody>
      </p:sp>
      <p:sp>
        <p:nvSpPr>
          <p:cNvPr id="10" name="Rounded Rectangle 9"/>
          <p:cNvSpPr/>
          <p:nvPr/>
        </p:nvSpPr>
        <p:spPr>
          <a:xfrm>
            <a:off x="8046720" y="1737360"/>
            <a:ext cx="3413455"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920240"/>
            <a:ext cx="3047695" cy="4114800"/>
          </a:xfrm>
          <a:prstGeom prst="rect">
            <a:avLst/>
          </a:prstGeom>
          <a:noFill/>
        </p:spPr>
        <p:txBody>
          <a:bodyPr wrap="square">
            <a:spAutoFit/>
          </a:bodyPr>
          <a:lstStyle/>
          <a:p>
            <a:pPr>
              <a:defRPr sz="1150" b="1">
                <a:solidFill>
                  <a:srgbClr val="FFB4AB"/>
                </a:solidFill>
                <a:latin typeface="Trebuchet MS"/>
              </a:defRPr>
            </a:pPr>
            <a:r>
              <a:t>STAGE 3: PLATT CALIBRATION</a:t>
            </a:r>
          </a:p>
          <a:p>
            <a:pPr>
              <a:spcBef>
                <a:spcPts val="800"/>
              </a:spcBef>
              <a:defRPr sz="1100" b="1">
                <a:solidFill>
                  <a:srgbClr val="E1E4D2"/>
                </a:solidFill>
                <a:latin typeface="Segoe UI"/>
              </a:defRPr>
            </a:pPr>
            <a:r>
              <a:t>• Frozen Logistic Sigmoid: </a:t>
            </a:r>
            <a:r>
              <a:rPr sz="1000" b="0">
                <a:solidFill>
                  <a:srgbClr val="A0A891"/>
                </a:solidFill>
                <a:latin typeface="Segoe UI"/>
              </a:rPr>
              <a:t>Uncalibrated tree outputs on imbalanced sets compress into artificial ranges (rarely exceeding 0.35).</a:t>
            </a:r>
          </a:p>
          <a:p>
            <a:pPr>
              <a:spcBef>
                <a:spcPts val="800"/>
              </a:spcBef>
              <a:defRPr sz="1100" b="1">
                <a:solidFill>
                  <a:srgbClr val="E1E4D2"/>
                </a:solidFill>
                <a:latin typeface="Segoe UI"/>
              </a:defRPr>
            </a:pPr>
            <a:r>
              <a:t>• Calibrated Probability Surge: </a:t>
            </a:r>
            <a:r>
              <a:rPr sz="1000" b="0">
                <a:solidFill>
                  <a:srgbClr val="A0A891"/>
                </a:solidFill>
                <a:latin typeface="Segoe UI"/>
              </a:rPr>
              <a:t>Scales raw pseudo-probabilities up to 73.3%, providing trustworthy confidence scores for DISCO operations.</a:t>
            </a:r>
          </a:p>
          <a:p>
            <a:pPr>
              <a:spcBef>
                <a:spcPts val="800"/>
              </a:spcBef>
              <a:defRPr sz="1100" b="1">
                <a:solidFill>
                  <a:srgbClr val="E1E4D2"/>
                </a:solidFill>
                <a:latin typeface="Segoe UI"/>
              </a:defRPr>
            </a:pPr>
            <a:r>
              <a:t>• Operational Decision Tiers: </a:t>
            </a:r>
            <a:r>
              <a:rPr sz="1000" b="0">
                <a:solidFill>
                  <a:srgbClr val="A0A891"/>
                </a:solidFill>
                <a:latin typeface="Segoe UI"/>
              </a:rPr>
              <a:t>High Risk (P &gt;= 0.70): Field Raid Dispatch.
Medium Risk (0.50 &lt;= P &lt; 0.70): Automated Soft-Warning SMS.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FEATURE ENGINEERING</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19 Advanced Domain Features: Invariance Engineering Defeating Confounders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Mathematical formulations specifically engineered to neutralize local grid confounders</a:t>
            </a:r>
          </a:p>
        </p:txBody>
      </p:sp>
      <p:sp>
        <p:nvSpPr>
          <p:cNvPr id="6" name="Rounded Rectangle 5"/>
          <p:cNvSpPr/>
          <p:nvPr/>
        </p:nvSpPr>
        <p:spPr>
          <a:xfrm>
            <a:off x="7315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1874520"/>
          </a:xfrm>
          <a:prstGeom prst="rect">
            <a:avLst/>
          </a:prstGeom>
          <a:noFill/>
        </p:spPr>
        <p:txBody>
          <a:bodyPr wrap="square">
            <a:spAutoFit/>
          </a:bodyPr>
          <a:lstStyle/>
          <a:p>
            <a:pPr>
              <a:defRPr sz="1100" b="1">
                <a:solidFill>
                  <a:srgbClr val="B6F542"/>
                </a:solidFill>
                <a:latin typeface="Trebuchet MS"/>
              </a:defRPr>
            </a:pPr>
            <a:r>
              <a:t>1. VECTORIZED CUSUM CHANGE-POINT BREAKS</a:t>
            </a:r>
          </a:p>
          <a:p>
            <a:pPr>
              <a:spcBef>
                <a:spcPts val="400"/>
              </a:spcBef>
              <a:defRPr sz="1100" b="1">
                <a:solidFill>
                  <a:srgbClr val="E1E4D2"/>
                </a:solidFill>
                <a:latin typeface="Segoe UI"/>
              </a:defRPr>
            </a:pPr>
            <a:r>
              <a:t>• Break Formula: </a:t>
            </a:r>
            <a:r>
              <a:rPr sz="1000" b="0">
                <a:solidFill>
                  <a:srgbClr val="A0A891"/>
                </a:solidFill>
                <a:latin typeface="Segoe UI"/>
              </a:rPr>
              <a:t>S_t = Max(0, S_{t-1} + (Mean_baseline - x_t) - k). Evaluates cumulative deviation peaks to pinpoint the exact month theft began without future leakage.</a:t>
            </a:r>
          </a:p>
          <a:p>
            <a:pPr>
              <a:spcBef>
                <a:spcPts val="400"/>
              </a:spcBef>
              <a:defRPr sz="1100" b="1">
                <a:solidFill>
                  <a:srgbClr val="E1E4D2"/>
                </a:solidFill>
                <a:latin typeface="Segoe UI"/>
              </a:defRPr>
            </a:pPr>
            <a:r>
              <a:t>• Clean 3-Month Anchor: </a:t>
            </a:r>
            <a:r>
              <a:rPr sz="1000" b="0">
                <a:solidFill>
                  <a:srgbClr val="A0A891"/>
                </a:solidFill>
                <a:latin typeface="Segoe UI"/>
              </a:rPr>
              <a:t>Anchoring against uncontaminated initial months prevents rolling baselines from absorbing creeping theft into the 'new normal'.</a:t>
            </a:r>
          </a:p>
        </p:txBody>
      </p:sp>
      <p:sp>
        <p:nvSpPr>
          <p:cNvPr id="8" name="Rounded Rectangle 7"/>
          <p:cNvSpPr/>
          <p:nvPr/>
        </p:nvSpPr>
        <p:spPr>
          <a:xfrm>
            <a:off x="62179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1874520"/>
          </a:xfrm>
          <a:prstGeom prst="rect">
            <a:avLst/>
          </a:prstGeom>
          <a:noFill/>
        </p:spPr>
        <p:txBody>
          <a:bodyPr wrap="square">
            <a:spAutoFit/>
          </a:bodyPr>
          <a:lstStyle/>
          <a:p>
            <a:pPr>
              <a:defRPr sz="1100" b="1">
                <a:solidFill>
                  <a:srgbClr val="45DCEB"/>
                </a:solidFill>
                <a:latin typeface="Trebuchet MS"/>
              </a:defRPr>
            </a:pPr>
            <a:r>
              <a:t>2. PMT PERCENTILE LOSS RANKING</a:t>
            </a:r>
          </a:p>
          <a:p>
            <a:pPr>
              <a:spcBef>
                <a:spcPts val="400"/>
              </a:spcBef>
              <a:defRPr sz="1100" b="1">
                <a:solidFill>
                  <a:srgbClr val="E1E4D2"/>
                </a:solidFill>
                <a:latin typeface="Segoe UI"/>
              </a:defRPr>
            </a:pPr>
            <a:r>
              <a:t>• Monthly Percentile Ranking: </a:t>
            </a:r>
            <a:r>
              <a:rPr sz="1000" b="0">
                <a:solidFill>
                  <a:srgbClr val="A0A891"/>
                </a:solidFill>
                <a:latin typeface="Segoe UI"/>
              </a:rPr>
              <a:t>Transforms raw transformer technical loss into a normalized 0.0-1.0 percentile rank across all 300 PMTs for each calendar month.</a:t>
            </a:r>
          </a:p>
          <a:p>
            <a:pPr>
              <a:spcBef>
                <a:spcPts val="400"/>
              </a:spcBef>
              <a:defRPr sz="1100" b="1">
                <a:solidFill>
                  <a:srgbClr val="E1E4D2"/>
                </a:solidFill>
                <a:latin typeface="Segoe UI"/>
              </a:defRPr>
            </a:pPr>
            <a:r>
              <a:t>• Weather Invariance: </a:t>
            </a:r>
            <a:r>
              <a:rPr sz="1000" b="0">
                <a:solidFill>
                  <a:srgbClr val="A0A891"/>
                </a:solidFill>
                <a:latin typeface="Segoe UI"/>
              </a:rPr>
              <a:t>Eliminates grid-wide summer/winter technical dissipation spikes, isolating localized high-theft transformer pockets.</a:t>
            </a:r>
          </a:p>
        </p:txBody>
      </p:sp>
      <p:sp>
        <p:nvSpPr>
          <p:cNvPr id="10" name="Rounded Rectangle 9"/>
          <p:cNvSpPr/>
          <p:nvPr/>
        </p:nvSpPr>
        <p:spPr>
          <a:xfrm>
            <a:off x="7315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4846320" cy="1874520"/>
          </a:xfrm>
          <a:prstGeom prst="rect">
            <a:avLst/>
          </a:prstGeom>
          <a:noFill/>
        </p:spPr>
        <p:txBody>
          <a:bodyPr wrap="square">
            <a:spAutoFit/>
          </a:bodyPr>
          <a:lstStyle/>
          <a:p>
            <a:pPr>
              <a:defRPr sz="1100" b="1">
                <a:solidFill>
                  <a:srgbClr val="FFA726"/>
                </a:solidFill>
                <a:latin typeface="Trebuchet MS"/>
              </a:defRPr>
            </a:pPr>
            <a:r>
              <a:t>3. LOAD-SHEDDING &amp; SOLAR INVARIANCE GATES</a:t>
            </a:r>
          </a:p>
          <a:p>
            <a:pPr>
              <a:spcBef>
                <a:spcPts val="400"/>
              </a:spcBef>
              <a:defRPr sz="1100" b="1">
                <a:solidFill>
                  <a:srgbClr val="E1E4D2"/>
                </a:solidFill>
                <a:latin typeface="Segoe UI"/>
              </a:defRPr>
            </a:pPr>
            <a:r>
              <a:t>• Uptime Normalization: </a:t>
            </a:r>
            <a:r>
              <a:rPr sz="1000" b="0">
                <a:solidFill>
                  <a:srgbClr val="A0A891"/>
                </a:solidFill>
                <a:latin typeface="Segoe UI"/>
              </a:rPr>
              <a:t>Consumer deviation divided by feeder uptime percentage: Usage_Dev / Uptime_feeder. If power was cut 25%, usage drop is discounted to zero.</a:t>
            </a:r>
          </a:p>
          <a:p>
            <a:pPr>
              <a:spcBef>
                <a:spcPts val="400"/>
              </a:spcBef>
              <a:defRPr sz="1100" b="1">
                <a:solidFill>
                  <a:srgbClr val="E1E4D2"/>
                </a:solidFill>
                <a:latin typeface="Segoe UI"/>
              </a:defRPr>
            </a:pPr>
            <a:r>
              <a:t>• Solar Net-Metering Gate: </a:t>
            </a:r>
            <a:r>
              <a:rPr sz="1000" b="0">
                <a:solidFill>
                  <a:srgbClr val="A0A891"/>
                </a:solidFill>
                <a:latin typeface="Segoe UI"/>
              </a:rPr>
              <a:t>Hard-gated to 0.0 for registered prosumers, eliminating wrongful accusations against solar adoption.</a:t>
            </a:r>
          </a:p>
        </p:txBody>
      </p:sp>
      <p:sp>
        <p:nvSpPr>
          <p:cNvPr id="12" name="Rounded Rectangle 11"/>
          <p:cNvSpPr/>
          <p:nvPr/>
        </p:nvSpPr>
        <p:spPr>
          <a:xfrm>
            <a:off x="62179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51960"/>
            <a:ext cx="4846320" cy="1874520"/>
          </a:xfrm>
          <a:prstGeom prst="rect">
            <a:avLst/>
          </a:prstGeom>
          <a:noFill/>
        </p:spPr>
        <p:txBody>
          <a:bodyPr wrap="square">
            <a:spAutoFit/>
          </a:bodyPr>
          <a:lstStyle/>
          <a:p>
            <a:pPr>
              <a:defRPr sz="1100" b="1">
                <a:solidFill>
                  <a:srgbClr val="FFB4AB"/>
                </a:solidFill>
                <a:latin typeface="Trebuchet MS"/>
              </a:defRPr>
            </a:pPr>
            <a:r>
              <a:t>4. 7 SCALE-INVARIANT AMI LOAD RATIOS</a:t>
            </a:r>
          </a:p>
          <a:p>
            <a:pPr>
              <a:spcBef>
                <a:spcPts val="400"/>
              </a:spcBef>
              <a:defRPr sz="1100" b="1">
                <a:solidFill>
                  <a:srgbClr val="E1E4D2"/>
                </a:solidFill>
                <a:latin typeface="Segoe UI"/>
              </a:defRPr>
            </a:pPr>
            <a:r>
              <a:t>• Peak Window Flatline: </a:t>
            </a:r>
            <a:r>
              <a:rPr sz="1000" b="0">
                <a:solidFill>
                  <a:srgbClr val="A0A891"/>
                </a:solidFill>
                <a:latin typeface="Segoe UI"/>
              </a:rPr>
              <a:t>Measures fraction of peak hours (6-10 PM) below 0.05 kWh—exposing Peak Shaver bypasses with 5.5x recall gain.</a:t>
            </a:r>
          </a:p>
          <a:p>
            <a:pPr>
              <a:spcBef>
                <a:spcPts val="400"/>
              </a:spcBef>
              <a:defRPr sz="1100" b="1">
                <a:solidFill>
                  <a:srgbClr val="E1E4D2"/>
                </a:solidFill>
                <a:latin typeface="Segoe UI"/>
              </a:defRPr>
            </a:pPr>
            <a:r>
              <a:t>• Night AC &amp; Midday Duck Ratios: </a:t>
            </a:r>
            <a:r>
              <a:rPr sz="1000" b="0">
                <a:solidFill>
                  <a:srgbClr val="A0A891"/>
                </a:solidFill>
                <a:latin typeface="Segoe UI"/>
              </a:rPr>
              <a:t>Scale-invariant ratios comparing nocturnal summer draw and midday solar troughs against daily baselines.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BENCHMARK VERIFICATION</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Proven Operational Uplift: 19.3x Precision &amp; 5.5x Peak-Shave Detection</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Rigorous out-of-sample evaluation on isolated 20% evaluation splits</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937760" cy="4206240"/>
          </a:xfrm>
          <a:prstGeom prst="rect">
            <a:avLst/>
          </a:prstGeom>
          <a:noFill/>
        </p:spPr>
        <p:txBody>
          <a:bodyPr wrap="square">
            <a:spAutoFit/>
          </a:bodyPr>
          <a:lstStyle/>
          <a:p>
            <a:pPr>
              <a:defRPr sz="1200" b="1">
                <a:solidFill>
                  <a:srgbClr val="B6F542"/>
                </a:solidFill>
                <a:latin typeface="Trebuchet MS"/>
              </a:defRPr>
            </a:pPr>
            <a:r>
              <a:t>EMPIRICAL PERFORMANCE BREAKTHROUGHS</a:t>
            </a:r>
          </a:p>
          <a:p>
            <a:pPr>
              <a:spcBef>
                <a:spcPts val="800"/>
              </a:spcBef>
              <a:defRPr sz="1100" b="1">
                <a:solidFill>
                  <a:srgbClr val="E1E4D2"/>
                </a:solidFill>
                <a:latin typeface="Segoe UI"/>
              </a:defRPr>
            </a:pPr>
            <a:r>
              <a:t>• 19.3x Precision Multiplier: </a:t>
            </a:r>
            <a:r>
              <a:rPr sz="1000" b="0">
                <a:solidFill>
                  <a:srgbClr val="A0A891"/>
                </a:solidFill>
                <a:latin typeface="Segoe UI"/>
              </a:rPr>
              <a:t>Istikshaf achieves 69.7% precision on standard monthly billing data, compared to the 3.6% baseline yield of random DISCO line audits.</a:t>
            </a:r>
          </a:p>
          <a:p>
            <a:pPr>
              <a:spcBef>
                <a:spcPts val="800"/>
              </a:spcBef>
              <a:defRPr sz="1100" b="1">
                <a:solidFill>
                  <a:srgbClr val="E1E4D2"/>
                </a:solidFill>
                <a:latin typeface="Segoe UI"/>
              </a:defRPr>
            </a:pPr>
            <a:r>
              <a:t>• Recall More Than Doubled: </a:t>
            </a:r>
            <a:r>
              <a:rPr sz="1000" b="0">
                <a:solidFill>
                  <a:srgbClr val="A0A891"/>
                </a:solidFill>
                <a:latin typeface="Segoe UI"/>
              </a:rPr>
              <a:t>Overall detection recall rises from 20.3% on monthly data to 45.7% when AMI smart-meter telemetry is enabled (+25.4 points).</a:t>
            </a:r>
          </a:p>
          <a:p>
            <a:pPr>
              <a:spcBef>
                <a:spcPts val="800"/>
              </a:spcBef>
              <a:defRPr sz="1100" b="1">
                <a:solidFill>
                  <a:srgbClr val="E1E4D2"/>
                </a:solidFill>
                <a:latin typeface="Segoe UI"/>
              </a:defRPr>
            </a:pPr>
            <a:r>
              <a:t>• 5.5x Peak-Hour Shaver Leap: </a:t>
            </a:r>
            <a:r>
              <a:rPr sz="1000" b="0">
                <a:solidFill>
                  <a:srgbClr val="A0A891"/>
                </a:solidFill>
                <a:latin typeface="Segoe UI"/>
              </a:rPr>
              <a:t>Time-of-Use peak evasion recall surges from 10.6% on monthly bills to 58.3% on hourly streams (+47.8 points).</a:t>
            </a:r>
          </a:p>
          <a:p>
            <a:pPr>
              <a:spcBef>
                <a:spcPts val="800"/>
              </a:spcBef>
              <a:defRPr sz="1100" b="1">
                <a:solidFill>
                  <a:srgbClr val="E1E4D2"/>
                </a:solidFill>
                <a:latin typeface="Segoe UI"/>
              </a:defRPr>
            </a:pPr>
            <a:r>
              <a:t>• Zero Solar False Alarms: </a:t>
            </a:r>
            <a:r>
              <a:rPr sz="1000" b="0">
                <a:solidFill>
                  <a:srgbClr val="A0A891"/>
                </a:solidFill>
                <a:latin typeface="Segoe UI"/>
              </a:rPr>
              <a:t>Maintains 100.00% specificity (0.00% false positive rate) on registered solar net-metering prosumers.</a:t>
            </a:r>
          </a:p>
          <a:p>
            <a:pPr>
              <a:spcBef>
                <a:spcPts val="800"/>
              </a:spcBef>
              <a:defRPr sz="1100" b="1">
                <a:solidFill>
                  <a:srgbClr val="E1E4D2"/>
                </a:solidFill>
                <a:latin typeface="Segoe UI"/>
              </a:defRPr>
            </a:pPr>
            <a:r>
              <a:t>• Sub-Minute Big Data Execution: </a:t>
            </a:r>
            <a:r>
              <a:rPr sz="1000" b="0">
                <a:solidFill>
                  <a:srgbClr val="A0A891"/>
                </a:solidFill>
                <a:latin typeface="Segoe UI"/>
              </a:rPr>
              <a:t>Processes 51.8 Million hourly telemetry rows in 5.5 minutes using &lt;200MB RAM via PyArrow batch streaming.</a:t>
            </a:r>
          </a:p>
        </p:txBody>
      </p:sp>
      <p:pic>
        <p:nvPicPr>
          <p:cNvPr id="8" name="Picture 7" descr="ami_uplift_benchmarks.png"/>
          <p:cNvPicPr>
            <a:picLocks noChangeAspect="1"/>
          </p:cNvPicPr>
          <p:nvPr/>
        </p:nvPicPr>
        <p:blipFill>
          <a:blip r:embed="rId2"/>
          <a:stretch>
            <a:fillRect/>
          </a:stretch>
        </p:blipFill>
        <p:spPr>
          <a:xfrm>
            <a:off x="6217920" y="1691640"/>
            <a:ext cx="5242255" cy="372031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AUTONOMOUS ENFORCEMENT</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8-Agent Autonomous Swarm: Eliminating the Human Bottleneck</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Multi-agent dispatch orchestrator automating triage, deduplication, and field routing</a:t>
            </a:r>
          </a:p>
        </p:txBody>
      </p:sp>
      <p:sp>
        <p:nvSpPr>
          <p:cNvPr id="6" name="Rounded Rectangle 5"/>
          <p:cNvSpPr/>
          <p:nvPr/>
        </p:nvSpPr>
        <p:spPr>
          <a:xfrm>
            <a:off x="731520"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2267712" cy="4206240"/>
          </a:xfrm>
          <a:prstGeom prst="rect">
            <a:avLst/>
          </a:prstGeom>
          <a:noFill/>
        </p:spPr>
        <p:txBody>
          <a:bodyPr wrap="square">
            <a:spAutoFit/>
          </a:bodyPr>
          <a:lstStyle/>
          <a:p>
            <a:pPr>
              <a:defRPr sz="1100" b="1">
                <a:solidFill>
                  <a:srgbClr val="45DCEB"/>
                </a:solidFill>
                <a:latin typeface="Trebuchet MS"/>
              </a:defRPr>
            </a:pPr>
            <a:r>
              <a:t>1. CONFAIR &amp; AUDIT</a:t>
            </a:r>
          </a:p>
          <a:p>
            <a:pPr>
              <a:spcBef>
                <a:spcPts val="600"/>
              </a:spcBef>
              <a:defRPr sz="1100" b="1">
                <a:solidFill>
                  <a:srgbClr val="E1E4D2"/>
                </a:solidFill>
                <a:latin typeface="Segoe UI"/>
              </a:defRPr>
            </a:pPr>
            <a:r>
              <a:t>• Confound Checker: </a:t>
            </a:r>
            <a:r>
              <a:rPr sz="1000" b="0">
                <a:solidFill>
                  <a:srgbClr val="A0A891"/>
                </a:solidFill>
                <a:latin typeface="Segoe UI"/>
              </a:rPr>
              <a:t>Intercepts raw model alerts. Cancels flags if feeder uptime dropped below 80% or solar export is active.</a:t>
            </a:r>
          </a:p>
          <a:p>
            <a:pPr>
              <a:spcBef>
                <a:spcPts val="800"/>
              </a:spcBef>
              <a:defRPr sz="1100" b="1">
                <a:solidFill>
                  <a:srgbClr val="E1E4D2"/>
                </a:solidFill>
                <a:latin typeface="Segoe UI"/>
              </a:defRPr>
            </a:pPr>
            <a:r>
              <a:t>• Audit Logger: </a:t>
            </a:r>
            <a:r>
              <a:rPr sz="1000" b="0">
                <a:solidFill>
                  <a:srgbClr val="A0A891"/>
                </a:solidFill>
                <a:latin typeface="Segoe UI"/>
              </a:rPr>
              <a:t>Writes cryptographic, append-only logs for compliance, ensuring every dispatch decision is legally defensible.</a:t>
            </a:r>
          </a:p>
        </p:txBody>
      </p:sp>
      <p:sp>
        <p:nvSpPr>
          <p:cNvPr id="8" name="Rounded Rectangle 7"/>
          <p:cNvSpPr/>
          <p:nvPr/>
        </p:nvSpPr>
        <p:spPr>
          <a:xfrm>
            <a:off x="3456432"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920240"/>
            <a:ext cx="2267712" cy="4206240"/>
          </a:xfrm>
          <a:prstGeom prst="rect">
            <a:avLst/>
          </a:prstGeom>
          <a:noFill/>
        </p:spPr>
        <p:txBody>
          <a:bodyPr wrap="square">
            <a:spAutoFit/>
          </a:bodyPr>
          <a:lstStyle/>
          <a:p>
            <a:pPr>
              <a:defRPr sz="1100" b="1">
                <a:solidFill>
                  <a:srgbClr val="B6F542"/>
                </a:solidFill>
                <a:latin typeface="Trebuchet MS"/>
              </a:defRPr>
            </a:pPr>
            <a:r>
              <a:t>2. DEDUP &amp; HISTORY</a:t>
            </a:r>
          </a:p>
          <a:p>
            <a:pPr>
              <a:spcBef>
                <a:spcPts val="600"/>
              </a:spcBef>
              <a:defRPr sz="1100" b="1">
                <a:solidFill>
                  <a:srgbClr val="E1E4D2"/>
                </a:solidFill>
                <a:latin typeface="Segoe UI"/>
              </a:defRPr>
            </a:pPr>
            <a:r>
              <a:t>• Case Dedup Guard: </a:t>
            </a:r>
            <a:r>
              <a:rPr sz="1000" b="0">
                <a:solidFill>
                  <a:srgbClr val="A0A891"/>
                </a:solidFill>
                <a:latin typeface="Segoe UI"/>
              </a:rPr>
              <a:t>Prevents redundant dispatching by verifying whether an open investigation docket already exists in SQLite.</a:t>
            </a:r>
          </a:p>
          <a:p>
            <a:pPr>
              <a:spcBef>
                <a:spcPts val="800"/>
              </a:spcBef>
              <a:defRPr sz="1100" b="1">
                <a:solidFill>
                  <a:srgbClr val="E1E4D2"/>
                </a:solidFill>
                <a:latin typeface="Segoe UI"/>
              </a:defRPr>
            </a:pPr>
            <a:r>
              <a:t>• Recidivism Checker: </a:t>
            </a:r>
            <a:r>
              <a:rPr sz="1000" b="0">
                <a:solidFill>
                  <a:srgbClr val="A0A891"/>
                </a:solidFill>
                <a:latin typeface="Segoe UI"/>
              </a:rPr>
              <a:t>Cross-references repeat offender registries and boosts raid priority for repeat violators caught in prior cycles.</a:t>
            </a:r>
          </a:p>
        </p:txBody>
      </p:sp>
      <p:sp>
        <p:nvSpPr>
          <p:cNvPr id="10" name="Rounded Rectangle 9"/>
          <p:cNvSpPr/>
          <p:nvPr/>
        </p:nvSpPr>
        <p:spPr>
          <a:xfrm>
            <a:off x="6181344"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920240"/>
            <a:ext cx="2267712" cy="4206240"/>
          </a:xfrm>
          <a:prstGeom prst="rect">
            <a:avLst/>
          </a:prstGeom>
          <a:noFill/>
        </p:spPr>
        <p:txBody>
          <a:bodyPr wrap="square">
            <a:spAutoFit/>
          </a:bodyPr>
          <a:lstStyle/>
          <a:p>
            <a:pPr>
              <a:defRPr sz="1100" b="1">
                <a:solidFill>
                  <a:srgbClr val="FFA726"/>
                </a:solidFill>
                <a:latin typeface="Trebuchet MS"/>
              </a:defRPr>
            </a:pPr>
            <a:r>
              <a:t>3. ROUTING &amp; NUDGE</a:t>
            </a:r>
          </a:p>
          <a:p>
            <a:pPr>
              <a:spcBef>
                <a:spcPts val="600"/>
              </a:spcBef>
              <a:defRPr sz="1100" b="1">
                <a:solidFill>
                  <a:srgbClr val="E1E4D2"/>
                </a:solidFill>
                <a:latin typeface="Segoe UI"/>
              </a:defRPr>
            </a:pPr>
            <a:r>
              <a:t>• Dual-Router Agent: </a:t>
            </a:r>
            <a:r>
              <a:rPr sz="1000" b="0">
                <a:solidFill>
                  <a:srgbClr val="A0A891"/>
                </a:solidFill>
                <a:latin typeface="Segoe UI"/>
              </a:rPr>
              <a:t>Splits flags into two channels: detailed SHAP dossiers for HQ analysts, and concise field orders for linemen.</a:t>
            </a:r>
          </a:p>
          <a:p>
            <a:pPr>
              <a:spcBef>
                <a:spcPts val="800"/>
              </a:spcBef>
              <a:defRPr sz="1100" b="1">
                <a:solidFill>
                  <a:srgbClr val="E1E4D2"/>
                </a:solidFill>
                <a:latin typeface="Segoe UI"/>
              </a:defRPr>
            </a:pPr>
            <a:r>
              <a:t>• Soft-Warning Nudge: </a:t>
            </a:r>
            <a:r>
              <a:rPr sz="1000" b="0">
                <a:solidFill>
                  <a:srgbClr val="A0A891"/>
                </a:solidFill>
                <a:latin typeface="Segoe UI"/>
              </a:rPr>
              <a:t>Sends automated billing SMS nudges for mid-risk cases (0.50 &lt;= P &lt; 0.70), prompting self-correction with 0 raid costs.</a:t>
            </a:r>
          </a:p>
        </p:txBody>
      </p:sp>
      <p:sp>
        <p:nvSpPr>
          <p:cNvPr id="12" name="Rounded Rectangle 11"/>
          <p:cNvSpPr/>
          <p:nvPr/>
        </p:nvSpPr>
        <p:spPr>
          <a:xfrm>
            <a:off x="8906256" y="1737360"/>
            <a:ext cx="2551176"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1920240"/>
            <a:ext cx="2276856" cy="4206240"/>
          </a:xfrm>
          <a:prstGeom prst="rect">
            <a:avLst/>
          </a:prstGeom>
          <a:noFill/>
        </p:spPr>
        <p:txBody>
          <a:bodyPr wrap="square">
            <a:spAutoFit/>
          </a:bodyPr>
          <a:lstStyle/>
          <a:p>
            <a:pPr>
              <a:defRPr sz="1100" b="1">
                <a:solidFill>
                  <a:srgbClr val="FFB4AB"/>
                </a:solidFill>
                <a:latin typeface="Trebuchet MS"/>
              </a:defRPr>
            </a:pPr>
            <a:r>
              <a:t>4. LOCALIZE &amp; PRIVACY</a:t>
            </a:r>
          </a:p>
          <a:p>
            <a:pPr>
              <a:spcBef>
                <a:spcPts val="600"/>
              </a:spcBef>
              <a:defRPr sz="1100" b="1">
                <a:solidFill>
                  <a:srgbClr val="E1E4D2"/>
                </a:solidFill>
                <a:latin typeface="Segoe UI"/>
              </a:defRPr>
            </a:pPr>
            <a:r>
              <a:t>• Urdu Localization: </a:t>
            </a:r>
            <a:r>
              <a:rPr sz="1000" b="0">
                <a:solidFill>
                  <a:srgbClr val="A0A891"/>
                </a:solidFill>
                <a:latin typeface="Segoe UI"/>
              </a:rPr>
              <a:t>Translates SHAP vectors into natural Roman Urdu dispatched via SMS to field linemen mobile phones.</a:t>
            </a:r>
          </a:p>
          <a:p>
            <a:pPr>
              <a:spcBef>
                <a:spcPts val="800"/>
              </a:spcBef>
              <a:defRPr sz="1100" b="1">
                <a:solidFill>
                  <a:srgbClr val="E1E4D2"/>
                </a:solidFill>
                <a:latin typeface="Segoe UI"/>
              </a:defRPr>
            </a:pPr>
            <a:r>
              <a:t>• PII Masking Agent: </a:t>
            </a:r>
            <a:r>
              <a:rPr sz="1000" b="0">
                <a:solidFill>
                  <a:srgbClr val="A0A891"/>
                </a:solidFill>
                <a:latin typeface="Segoe UI"/>
              </a:rPr>
              <a:t>Hashes and masks consumer identities before external dispatch, preserving consumer privacy.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EXPLAINABILITY &amp; FIELD OPS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Defensible in Court, Actionable on the Street: SHAP &amp; Roman Urdu</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Translating complex mathematical attributions into tribunal evidence and lineman action</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937760" cy="4206240"/>
          </a:xfrm>
          <a:prstGeom prst="rect">
            <a:avLst/>
          </a:prstGeom>
          <a:noFill/>
        </p:spPr>
        <p:txBody>
          <a:bodyPr wrap="square">
            <a:spAutoFit/>
          </a:bodyPr>
          <a:lstStyle/>
          <a:p>
            <a:pPr>
              <a:defRPr sz="1150" b="1">
                <a:solidFill>
                  <a:srgbClr val="45DCEB"/>
                </a:solidFill>
                <a:latin typeface="Trebuchet MS"/>
              </a:defRPr>
            </a:pPr>
            <a:r>
              <a:t>LEGAL REVENUE PROTECTION DOCKET (ENGLISH)</a:t>
            </a:r>
          </a:p>
          <a:p>
            <a:pPr>
              <a:spcBef>
                <a:spcPts val="400"/>
              </a:spcBef>
              <a:defRPr sz="1100" b="1">
                <a:solidFill>
                  <a:srgbClr val="E1E4D2"/>
                </a:solidFill>
                <a:latin typeface="Segoe UI"/>
              </a:defRPr>
            </a:pPr>
            <a:r>
              <a:t>• Consumer ID: </a:t>
            </a:r>
            <a:r>
              <a:rPr sz="1000" b="0">
                <a:solidFill>
                  <a:srgbClr val="A0A891"/>
                </a:solidFill>
                <a:latin typeface="Segoe UI"/>
              </a:rPr>
              <a:t>C-000480 | Sanctioned Load: 15 kW (Commercial Plaza)</a:t>
            </a:r>
          </a:p>
          <a:p>
            <a:pPr>
              <a:spcBef>
                <a:spcPts val="400"/>
              </a:spcBef>
              <a:defRPr sz="1100" b="1">
                <a:solidFill>
                  <a:srgbClr val="E1E4D2"/>
                </a:solidFill>
                <a:latin typeface="Segoe UI"/>
              </a:defRPr>
            </a:pPr>
            <a:r>
              <a:t>• Grid Topology: </a:t>
            </a:r>
            <a:r>
              <a:rPr sz="1000" b="0">
                <a:solidFill>
                  <a:srgbClr val="A0A891"/>
                </a:solidFill>
                <a:latin typeface="Segoe UI"/>
              </a:rPr>
              <a:t>Feeder F-12 / PMT-0114 (Transformer Loss: 94th Percentile)</a:t>
            </a:r>
          </a:p>
          <a:p>
            <a:pPr>
              <a:spcBef>
                <a:spcPts val="400"/>
              </a:spcBef>
              <a:defRPr sz="1100" b="1">
                <a:solidFill>
                  <a:srgbClr val="E1E4D2"/>
                </a:solidFill>
                <a:latin typeface="Segoe UI"/>
              </a:defRPr>
            </a:pPr>
            <a:r>
              <a:t>• Calibrated Risk: </a:t>
            </a:r>
            <a:r>
              <a:rPr sz="1000" b="0">
                <a:solidFill>
                  <a:srgbClr val="A0A891"/>
                </a:solidFill>
                <a:latin typeface="Segoe UI"/>
              </a:rPr>
              <a:t>71.4% [HIGH RISK - DISPATCH ENFORCEMENT TEAM]</a:t>
            </a:r>
          </a:p>
          <a:p>
            <a:pPr>
              <a:spcBef>
                <a:spcPts val="600"/>
              </a:spcBef>
              <a:defRPr sz="1100" b="1">
                <a:solidFill>
                  <a:srgbClr val="E1E4D2"/>
                </a:solidFill>
                <a:latin typeface="Segoe UI"/>
              </a:defRPr>
            </a:pPr>
            <a:r>
              <a:t>• Primary Factor 1: </a:t>
            </a:r>
            <a:r>
              <a:rPr sz="1000" b="0">
                <a:solidFill>
                  <a:srgbClr val="A0A891"/>
                </a:solidFill>
                <a:latin typeface="Segoe UI"/>
              </a:rPr>
              <a:t>Peak Window Flatline: 0.00 kW on 84.6% of peak hours (6-10 PM) despite 3.8 kW daytime draw (SHAP Impact: +0.34).</a:t>
            </a:r>
          </a:p>
          <a:p>
            <a:pPr>
              <a:spcBef>
                <a:spcPts val="600"/>
              </a:spcBef>
              <a:defRPr sz="1100" b="1">
                <a:solidFill>
                  <a:srgbClr val="E1E4D2"/>
                </a:solidFill>
                <a:latin typeface="Segoe UI"/>
              </a:defRPr>
            </a:pPr>
            <a:r>
              <a:t>• Primary Factor 2: </a:t>
            </a:r>
            <a:r>
              <a:rPr sz="1000" b="0">
                <a:solidFill>
                  <a:srgbClr val="A0A891"/>
                </a:solidFill>
                <a:latin typeface="Segoe UI"/>
              </a:rPr>
              <a:t>Vectorized CUSUM Break: Abrupt 48% drop detected starting Month 11; persisted continuously for 25 months (SHAP Impact: +0.21).</a:t>
            </a:r>
          </a:p>
          <a:p>
            <a:pPr>
              <a:spcBef>
                <a:spcPts val="600"/>
              </a:spcBef>
              <a:defRPr sz="1100" b="1">
                <a:solidFill>
                  <a:srgbClr val="E1E4D2"/>
                </a:solidFill>
                <a:latin typeface="Segoe UI"/>
              </a:defRPr>
            </a:pPr>
            <a:r>
              <a:t>• Primary Factor 3: </a:t>
            </a:r>
            <a:r>
              <a:rPr sz="1000" b="0">
                <a:solidFill>
                  <a:srgbClr val="A0A891"/>
                </a:solidFill>
                <a:latin typeface="Segoe UI"/>
              </a:rPr>
              <a:t>Transformer Energy Balance: PMT-0114 non-technical loss rose by 14.2% concurrently with consumer drop (SHAP Impact: +0.12).</a:t>
            </a:r>
          </a:p>
        </p:txBody>
      </p:sp>
      <p:sp>
        <p:nvSpPr>
          <p:cNvPr id="8" name="Rounded Rectangle 7"/>
          <p:cNvSpPr/>
          <p:nvPr/>
        </p:nvSpPr>
        <p:spPr>
          <a:xfrm>
            <a:off x="6217920" y="1691640"/>
            <a:ext cx="5242255" cy="4572000"/>
          </a:xfrm>
          <a:prstGeom prst="roundRect">
            <a:avLst/>
          </a:prstGeom>
          <a:solidFill>
            <a:srgbClr val="1E2516"/>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76495" cy="4206240"/>
          </a:xfrm>
          <a:prstGeom prst="rect">
            <a:avLst/>
          </a:prstGeom>
          <a:noFill/>
        </p:spPr>
        <p:txBody>
          <a:bodyPr wrap="square">
            <a:spAutoFit/>
          </a:bodyPr>
          <a:lstStyle/>
          <a:p>
            <a:pPr>
              <a:defRPr sz="1150" b="1">
                <a:solidFill>
                  <a:srgbClr val="B6F542"/>
                </a:solidFill>
                <a:latin typeface="Trebuchet MS"/>
              </a:defRPr>
            </a:pPr>
            <a:r>
              <a:t>FIELD CREW SMS DISPATCH (ROMAN URDU)</a:t>
            </a:r>
          </a:p>
          <a:p>
            <a:pPr>
              <a:spcBef>
                <a:spcPts val="800"/>
              </a:spcBef>
              <a:defRPr sz="950" b="1">
                <a:solidFill>
                  <a:srgbClr val="A0A891"/>
                </a:solidFill>
                <a:latin typeface="Consolas"/>
              </a:defRPr>
            </a:pPr>
            <a:r>
              <a:t>📱 MOBILE ALERT SENT TO SDO / LINEMAN IN CHARGE:</a:t>
            </a:r>
          </a:p>
          <a:p>
            <a:pPr>
              <a:spcBef>
                <a:spcPts val="400"/>
              </a:spcBef>
              <a:defRPr sz="1000">
                <a:solidFill>
                  <a:srgbClr val="B6F542"/>
                </a:solidFill>
                <a:latin typeface="Consolas"/>
              </a:defRPr>
            </a:pPr>
            <a:r>
              <a:t>========================================</a:t>
            </a:r>
            <a:br/>
            <a:r>
              <a:t>BA-HAWAALA CONSUMER: C-000480</a:t>
            </a:r>
            <a:br/>
            <a:r>
              <a:t>FEEDER: F-12  |  PMT: PMT-0114</a:t>
            </a:r>
            <a:br/>
            <a:r>
              <a:t>THEFT RISK: 71.4% (INTEHAYI KHATRAK)</a:t>
            </a:r>
            <a:br/>
            <a:r>
              <a:t>----------------------------------------</a:t>
            </a:r>
            <a:br/>
            <a:r>
              <a:t>TAFSEELAT-E-CHOORI:</a:t>
            </a:r>
            <a:br/>
            <a:r>
              <a:t>1. Sham 6 se 10 bajay k doran meter par</a:t>
            </a:r>
            <a:br/>
            <a:r>
              <a:t>   84% load gayab paya gaya hai.</a:t>
            </a:r>
            <a:br/>
            <a:r>
              <a:t>2. PMT-0114 par line loss 14.2% barh chuka</a:t>
            </a:r>
            <a:br/>
            <a:r>
              <a:t>   hai jabke customer ka load kam hua.</a:t>
            </a:r>
            <a:br/>
            <a:r>
              <a:t>3. CUSUM break se pata chalta hai k</a:t>
            </a:r>
            <a:br/>
            <a:r>
              <a:t>   tampering 25 mahino se jari hai.</a:t>
            </a:r>
            <a:br/>
            <a:r>
              <a:t>----------------------------------------</a:t>
            </a:r>
            <a:br/>
            <a:r>
              <a:t>HUKM: Fori enforcement team rawana</a:t>
            </a:r>
            <a:br/>
            <a:r>
              <a:t>karein aur bypass switch zabt karein.</a:t>
            </a: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ENTERPRISE PLATFORM</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Istikshaf Grid Noir: Tactical Command Center &amp; 3D Digital Twin</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High-density dark mode desktop application engineered for 24/7 utility control rooms</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45DCEB"/>
                </a:solidFill>
                <a:latin typeface="Trebuchet MS"/>
              </a:defRPr>
            </a:pPr>
            <a:r>
              <a:t>1. 3D WEBGL DIGITAL TWIN</a:t>
            </a:r>
          </a:p>
          <a:p>
            <a:pPr>
              <a:spcBef>
                <a:spcPts val="600"/>
              </a:spcBef>
              <a:defRPr sz="1100" b="1">
                <a:solidFill>
                  <a:srgbClr val="E1E4D2"/>
                </a:solidFill>
                <a:latin typeface="Segoe UI"/>
              </a:defRPr>
            </a:pPr>
            <a:r>
              <a:t>• Spatial Grid Topology: </a:t>
            </a:r>
            <a:r>
              <a:rPr sz="1000" b="0">
                <a:solidFill>
                  <a:srgbClr val="A0A891"/>
                </a:solidFill>
                <a:latin typeface="Segoe UI"/>
              </a:rPr>
              <a:t>Renders 30 11kV primary feeders and 300 pole-mounted transformers in an interactive 3D WebGL force-directed graph.</a:t>
            </a:r>
          </a:p>
          <a:p>
            <a:pPr>
              <a:spcBef>
                <a:spcPts val="800"/>
              </a:spcBef>
              <a:defRPr sz="1100" b="1">
                <a:solidFill>
                  <a:srgbClr val="E1E4D2"/>
                </a:solidFill>
                <a:latin typeface="Segoe UI"/>
              </a:defRPr>
            </a:pPr>
            <a:r>
              <a:t>• Dynamic Load Balancing: </a:t>
            </a:r>
            <a:r>
              <a:rPr sz="1000" b="0">
                <a:solidFill>
                  <a:srgbClr val="A0A891"/>
                </a:solidFill>
                <a:latin typeface="Segoe UI"/>
              </a:rPr>
              <a:t>Visualizes real-time power injection, technical loss dissipation, and localized transformer overload in high-contrast neon accents.</a:t>
            </a:r>
          </a:p>
          <a:p>
            <a:pPr>
              <a:spcBef>
                <a:spcPts val="800"/>
              </a:spcBef>
              <a:defRPr sz="1100" b="1">
                <a:solidFill>
                  <a:srgbClr val="E1E4D2"/>
                </a:solidFill>
                <a:latin typeface="Segoe UI"/>
              </a:defRPr>
            </a:pPr>
            <a:r>
              <a:t>• Theft Pocket Clustering: </a:t>
            </a:r>
            <a:r>
              <a:rPr sz="1000" b="0">
                <a:solidFill>
                  <a:srgbClr val="A0A891"/>
                </a:solidFill>
                <a:latin typeface="Segoe UI"/>
              </a:rPr>
              <a:t>Highlights transformer loss hot-spots where coordinated theft rings operate.</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B6F542"/>
                </a:solidFill>
                <a:latin typeface="Trebuchet MS"/>
              </a:defRPr>
            </a:pPr>
            <a:r>
              <a:t>2. CONSUMER DEEP-DIVE</a:t>
            </a:r>
          </a:p>
          <a:p>
            <a:pPr>
              <a:spcBef>
                <a:spcPts val="600"/>
              </a:spcBef>
              <a:defRPr sz="1100" b="1">
                <a:solidFill>
                  <a:srgbClr val="E1E4D2"/>
                </a:solidFill>
                <a:latin typeface="Segoe UI"/>
              </a:defRPr>
            </a:pPr>
            <a:r>
              <a:t>• Dual-Horizon Visualizer: </a:t>
            </a:r>
            <a:r>
              <a:rPr sz="1000" b="0">
                <a:solidFill>
                  <a:srgbClr val="A0A891"/>
                </a:solidFill>
                <a:latin typeface="Segoe UI"/>
              </a:rPr>
              <a:t>Side-by-side display of 36-month monthly billing history alongside 24-hour high-frequency diurnal load shapes.</a:t>
            </a:r>
          </a:p>
          <a:p>
            <a:pPr>
              <a:spcBef>
                <a:spcPts val="800"/>
              </a:spcBef>
              <a:defRPr sz="1100" b="1">
                <a:solidFill>
                  <a:srgbClr val="E1E4D2"/>
                </a:solidFill>
                <a:latin typeface="Segoe UI"/>
              </a:defRPr>
            </a:pPr>
            <a:r>
              <a:t>• TreeSHAP Waterfall Cards: </a:t>
            </a:r>
            <a:r>
              <a:rPr sz="1000" b="0">
                <a:solidFill>
                  <a:srgbClr val="A0A891"/>
                </a:solidFill>
                <a:latin typeface="Segoe UI"/>
              </a:rPr>
              <a:t>Interactive feature contribution waterfall showing exactly why the consumer was flagged.</a:t>
            </a:r>
          </a:p>
          <a:p>
            <a:pPr>
              <a:spcBef>
                <a:spcPts val="800"/>
              </a:spcBef>
              <a:defRPr sz="1100" b="1">
                <a:solidFill>
                  <a:srgbClr val="E1E4D2"/>
                </a:solidFill>
                <a:latin typeface="Segoe UI"/>
              </a:defRPr>
            </a:pPr>
            <a:r>
              <a:t>• Live Counterfactual Testing: </a:t>
            </a:r>
            <a:r>
              <a:rPr sz="1000" b="0">
                <a:solidFill>
                  <a:srgbClr val="A0A891"/>
                </a:solidFill>
                <a:latin typeface="Segoe UI"/>
              </a:rPr>
              <a:t>Admin workbench allowing engineers to simulate load shifts and test model sensitivity.</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FFA726"/>
                </a:solidFill>
                <a:latin typeface="Trebuchet MS"/>
              </a:defRPr>
            </a:pPr>
            <a:r>
              <a:t>3. ENFORCEMENT DISPATCH</a:t>
            </a:r>
          </a:p>
          <a:p>
            <a:pPr>
              <a:spcBef>
                <a:spcPts val="600"/>
              </a:spcBef>
              <a:defRPr sz="1100" b="1">
                <a:solidFill>
                  <a:srgbClr val="E1E4D2"/>
                </a:solidFill>
                <a:latin typeface="Segoe UI"/>
              </a:defRPr>
            </a:pPr>
            <a:r>
              <a:t>• Revenue Recovery Ranker: </a:t>
            </a:r>
            <a:r>
              <a:rPr sz="1000" b="0">
                <a:solidFill>
                  <a:srgbClr val="A0A891"/>
                </a:solidFill>
                <a:latin typeface="Segoe UI"/>
              </a:rPr>
              <a:t>Rank-orders field raids by expected financial recovery: Recoverable_PKR = P_theft * Deficit_kWh * Tariff.</a:t>
            </a:r>
          </a:p>
          <a:p>
            <a:pPr>
              <a:spcBef>
                <a:spcPts val="800"/>
              </a:spcBef>
              <a:defRPr sz="1100" b="1">
                <a:solidFill>
                  <a:srgbClr val="E1E4D2"/>
                </a:solidFill>
                <a:latin typeface="Segoe UI"/>
              </a:defRPr>
            </a:pPr>
            <a:r>
              <a:t>• Geospatial Crew Routing: </a:t>
            </a:r>
            <a:r>
              <a:rPr sz="1000" b="0">
                <a:solidFill>
                  <a:srgbClr val="A0A891"/>
                </a:solidFill>
                <a:latin typeface="Segoe UI"/>
              </a:rPr>
              <a:t>Clusters nearby high-risk transformers to optimize inspector patrol routes and fuel efficiency.</a:t>
            </a:r>
          </a:p>
          <a:p>
            <a:pPr>
              <a:spcBef>
                <a:spcPts val="800"/>
              </a:spcBef>
              <a:defRPr sz="1100" b="1">
                <a:solidFill>
                  <a:srgbClr val="E1E4D2"/>
                </a:solidFill>
                <a:latin typeface="Segoe UI"/>
              </a:defRPr>
            </a:pPr>
            <a:r>
              <a:t>• One-Click Dispatch: </a:t>
            </a:r>
            <a:r>
              <a:rPr sz="1000" b="0">
                <a:solidFill>
                  <a:srgbClr val="A0A891"/>
                </a:solidFill>
                <a:latin typeface="Segoe UI"/>
              </a:rPr>
              <a:t>Triggers automated Roman Urdu SMS dispatch and logs immutable audit trails.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4114800" cy="320040"/>
          </a:xfrm>
          <a:prstGeom prst="rect">
            <a:avLst/>
          </a:prstGeom>
          <a:noFill/>
        </p:spPr>
        <p:txBody>
          <a:bodyPr wrap="square" lIns="0" tIns="0" rIns="0" bIns="0">
            <a:spAutoFit/>
          </a:bodyPr>
          <a:lstStyle/>
          <a:p>
            <a:pPr>
              <a:defRPr sz="950" b="1">
                <a:solidFill>
                  <a:srgbClr val="B6F542"/>
                </a:solidFill>
                <a:latin typeface="Consolas"/>
              </a:defRPr>
            </a:pPr>
            <a:r>
              <a:t>BUSINESS CASE &amp; ROI</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Unlocking Billions in Recoverable Revenue: The DISCO Business Case</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Transforming utility balance sheets and breaking the Circular Debt spiral</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937760" cy="4206240"/>
          </a:xfrm>
          <a:prstGeom prst="rect">
            <a:avLst/>
          </a:prstGeom>
          <a:noFill/>
        </p:spPr>
        <p:txBody>
          <a:bodyPr wrap="square">
            <a:spAutoFit/>
          </a:bodyPr>
          <a:lstStyle/>
          <a:p>
            <a:pPr>
              <a:defRPr sz="1150" b="1">
                <a:solidFill>
                  <a:srgbClr val="B6F542"/>
                </a:solidFill>
                <a:latin typeface="Trebuchet MS"/>
              </a:defRPr>
            </a:pPr>
            <a:r>
              <a:t>FINANCIAL MODEL (LESCO DIVISION: 3.5M CONSUMERS)</a:t>
            </a:r>
          </a:p>
          <a:p>
            <a:pPr>
              <a:spcBef>
                <a:spcPts val="600"/>
              </a:spcBef>
              <a:defRPr sz="1100" b="1">
                <a:solidFill>
                  <a:srgbClr val="E1E4D2"/>
                </a:solidFill>
                <a:latin typeface="Segoe UI"/>
              </a:defRPr>
            </a:pPr>
            <a:r>
              <a:t>• PKR 14.2 Billion / Year: </a:t>
            </a:r>
            <a:r>
              <a:rPr sz="1000" b="0">
                <a:solidFill>
                  <a:srgbClr val="A0A891"/>
                </a:solidFill>
                <a:latin typeface="Segoe UI"/>
              </a:rPr>
              <a:t>Projected net recoverable revenue per major DISCO through targeted detection and retroactive billing recovery.</a:t>
            </a:r>
          </a:p>
          <a:p>
            <a:pPr>
              <a:spcBef>
                <a:spcPts val="800"/>
              </a:spcBef>
              <a:defRPr sz="1100" b="1">
                <a:solidFill>
                  <a:srgbClr val="E1E4D2"/>
                </a:solidFill>
                <a:latin typeface="Segoe UI"/>
              </a:defRPr>
            </a:pPr>
            <a:r>
              <a:t>• 19.3x Raid Efficiency: </a:t>
            </a:r>
            <a:r>
              <a:rPr sz="1000" b="0">
                <a:solidFill>
                  <a:srgbClr val="A0A891"/>
                </a:solidFill>
                <a:latin typeface="Segoe UI"/>
              </a:rPr>
              <a:t>Hit rate surges from 3.6% to 69.7%, slashing fuel, vehicle maintenance, and wasted inspector man-hours by over 80%.</a:t>
            </a:r>
          </a:p>
          <a:p>
            <a:pPr>
              <a:spcBef>
                <a:spcPts val="800"/>
              </a:spcBef>
              <a:defRPr sz="1100" b="1">
                <a:solidFill>
                  <a:srgbClr val="E1E4D2"/>
                </a:solidFill>
                <a:latin typeface="Segoe UI"/>
              </a:defRPr>
            </a:pPr>
            <a:r>
              <a:t>• &lt; 45 Days Payback Period: </a:t>
            </a:r>
            <a:r>
              <a:rPr sz="1000" b="0">
                <a:solidFill>
                  <a:srgbClr val="A0A891"/>
                </a:solidFill>
                <a:latin typeface="Segoe UI"/>
              </a:rPr>
              <a:t>Software deployment capital costs recovered within the first 6 weeks of active operational field raids.</a:t>
            </a:r>
          </a:p>
          <a:p>
            <a:pPr>
              <a:spcBef>
                <a:spcPts val="800"/>
              </a:spcBef>
              <a:defRPr sz="1100" b="1">
                <a:solidFill>
                  <a:srgbClr val="E1E4D2"/>
                </a:solidFill>
                <a:latin typeface="Segoe UI"/>
              </a:defRPr>
            </a:pPr>
            <a:r>
              <a:t>• National Sovereign Impact: </a:t>
            </a:r>
            <a:r>
              <a:rPr sz="1000" b="0">
                <a:solidFill>
                  <a:srgbClr val="A0A891"/>
                </a:solidFill>
                <a:latin typeface="Segoe UI"/>
              </a:rPr>
              <a:t>Scaling Istikshaf across all 10 DISCOs recovers an estimated PKR 140+ Billion annually, directly reducing the Circular Debt by over 5% every single year.</a:t>
            </a:r>
          </a:p>
        </p:txBody>
      </p:sp>
      <p:pic>
        <p:nvPicPr>
          <p:cNvPr id="8" name="Picture 7" descr="roi_recovery.png"/>
          <p:cNvPicPr>
            <a:picLocks noChangeAspect="1"/>
          </p:cNvPicPr>
          <p:nvPr/>
        </p:nvPicPr>
        <p:blipFill>
          <a:blip r:embed="rId2"/>
          <a:stretch>
            <a:fillRect/>
          </a:stretch>
        </p:blipFill>
        <p:spPr>
          <a:xfrm>
            <a:off x="6217920" y="1691640"/>
            <a:ext cx="5242255" cy="372031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914400"/>
            <a:ext cx="10728655" cy="50292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188720"/>
            <a:ext cx="9997135" cy="4389120"/>
          </a:xfrm>
          <a:prstGeom prst="rect">
            <a:avLst/>
          </a:prstGeom>
          <a:noFill/>
        </p:spPr>
        <p:txBody>
          <a:bodyPr wrap="square">
            <a:spAutoFit/>
          </a:bodyPr>
          <a:lstStyle/>
          <a:p>
            <a:pPr>
              <a:defRPr sz="2400" b="1">
                <a:solidFill>
                  <a:srgbClr val="B6F542"/>
                </a:solidFill>
                <a:latin typeface="Trebuchet MS"/>
              </a:defRPr>
            </a:pPr>
            <a:r>
              <a:t>THE VERDICT: SECURING PAKISTAN'S ENERGY FUTURE</a:t>
            </a:r>
          </a:p>
          <a:p>
            <a:pPr>
              <a:spcBef>
                <a:spcPts val="600"/>
              </a:spcBef>
              <a:defRPr sz="1300">
                <a:solidFill>
                  <a:srgbClr val="A0A891"/>
                </a:solidFill>
                <a:latin typeface="Segoe UI"/>
              </a:defRPr>
            </a:pPr>
            <a:r>
              <a:t>Why Istikshaf is the definitive solution to Pakistan's Power Sector Crisis:</a:t>
            </a:r>
          </a:p>
          <a:p>
            <a:pPr>
              <a:spcBef>
                <a:spcPts val="1200"/>
              </a:spcBef>
              <a:defRPr sz="1100" b="1">
                <a:solidFill>
                  <a:srgbClr val="E1E4D2"/>
                </a:solidFill>
                <a:latin typeface="Segoe UI"/>
              </a:defRPr>
            </a:pPr>
            <a:r>
              <a:t>• Grounded in Electrical Physics: </a:t>
            </a:r>
            <a:r>
              <a:rPr sz="1000" b="0">
                <a:solidFill>
                  <a:srgbClr val="A0A891"/>
                </a:solidFill>
                <a:latin typeface="Segoe UI"/>
              </a:rPr>
              <a:t>First-law energy conservation and non-linear technical loss dissipation guarantee zero theoretical violations.</a:t>
            </a:r>
          </a:p>
          <a:p>
            <a:pPr>
              <a:spcBef>
                <a:spcPts val="1000"/>
              </a:spcBef>
              <a:defRPr sz="1100" b="1">
                <a:solidFill>
                  <a:srgbClr val="E1E4D2"/>
                </a:solidFill>
                <a:latin typeface="Segoe UI"/>
              </a:defRPr>
            </a:pPr>
            <a:r>
              <a:t>• Dual-Track Scalability: </a:t>
            </a:r>
            <a:r>
              <a:rPr sz="1000" b="0">
                <a:solidFill>
                  <a:srgbClr val="A0A891"/>
                </a:solidFill>
                <a:latin typeface="Segoe UI"/>
              </a:rPr>
              <a:t>Solves theft on legacy analog grids today with 69.7% precision, while unlocking a 5.5x detection surge on smart meters tomorrow.</a:t>
            </a:r>
          </a:p>
          <a:p>
            <a:pPr>
              <a:spcBef>
                <a:spcPts val="1000"/>
              </a:spcBef>
              <a:defRPr sz="1100" b="1">
                <a:solidFill>
                  <a:srgbClr val="E1E4D2"/>
                </a:solidFill>
                <a:latin typeface="Segoe UI"/>
              </a:defRPr>
            </a:pPr>
            <a:r>
              <a:t>• Zero Confounder Penalties: </a:t>
            </a:r>
            <a:r>
              <a:rPr sz="1000" b="0">
                <a:solidFill>
                  <a:srgbClr val="A0A891"/>
                </a:solidFill>
                <a:latin typeface="Segoe UI"/>
              </a:rPr>
              <a:t>100% specificity on registered solar prosumers and automatic discount factors for load shedding blackouts.</a:t>
            </a:r>
          </a:p>
          <a:p>
            <a:pPr>
              <a:spcBef>
                <a:spcPts val="1000"/>
              </a:spcBef>
              <a:defRPr sz="1100" b="1">
                <a:solidFill>
                  <a:srgbClr val="E1E4D2"/>
                </a:solidFill>
                <a:latin typeface="Segoe UI"/>
              </a:defRPr>
            </a:pPr>
            <a:r>
              <a:t>• Autonomous Operational Swarm: </a:t>
            </a:r>
            <a:r>
              <a:rPr sz="1000" b="0">
                <a:solidFill>
                  <a:srgbClr val="A0A891"/>
                </a:solidFill>
                <a:latin typeface="Segoe UI"/>
              </a:rPr>
              <a:t>8 specialized agents bridge the gap between machine learning models and street-level lineman dispatch with Roman Urdu communications.</a:t>
            </a:r>
          </a:p>
          <a:p>
            <a:pPr>
              <a:spcBef>
                <a:spcPts val="1800"/>
              </a:spcBef>
              <a:defRPr sz="1400" b="1">
                <a:solidFill>
                  <a:srgbClr val="45DCEB"/>
                </a:solidFill>
                <a:latin typeface="Trebuchet MS"/>
              </a:defRPr>
            </a:pPr>
            <a:r>
              <a:t>ISTIKSHAF: Turning Loss Detection into Sovereign Recovery. Ready for Deployment.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