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Judges and energy sector leaders: Every year, over 520 Billion Rupees vanishes from Pakistan's power grid into thin air. It is called Non-Technical Loss—power theft, illegal hookups, and meter tampering. It is the primary engine behind Pakistan's crippling 2.65 Trillion Rupee circular debt. Today, our team—Hadiah Batool, Hashim Khushal Khan, Hamza Sultan, and Huda Ali—presents Istikshaf: an autonomous, physics-grounded enterprise AI platform that transforms revenue protection from blind manual spot-checks into precision enforcement.</a:t>
            </a:r>
          </a:p>
          <a:p/>
          <a:p>
            <a:r>
              <a:t>ANTICIPATED JUDGE Q&amp;A DEFENSE:</a:t>
            </a:r>
          </a:p>
          <a:p>
            <a:r>
              <a:t>Q: Why hasn't this been solved by smart meters?</a:t>
            </a:r>
          </a:p>
          <a:p>
            <a:r>
              <a:t>A: Because 65% of Pakistan's grid relies on legacy analog meters, and national AMI rollout will take 15 years. Istikshaf is engineered as a dual-track architecture: it solves grid theft on legacy analog meters today with 69.7% precision, while instantly unlocking a 5.5x detection surge when smart meters are connected.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Look at this landscape. Distribution loss is not a marginal leak; it is an economic hemorrhage. In PESCO and SEPCO, more than one in every three kilowatt-hours distributed simply vanishes. Even in relatively efficient zones like LESCO and K-Electric, losses exceed 12 to 15 percent. This is why tariffs keep rising for honest families—to cover the cost of stolen energy.</a:t>
            </a:r>
          </a:p>
          <a:p/>
          <a:p>
            <a:r>
              <a:t>ANTICIPATED JUDGE Q&amp;A DEFENSE:</a:t>
            </a:r>
          </a:p>
          <a:p>
            <a:r>
              <a:t>Q: Can DISCOs survive without subsidies if theft continues?</a:t>
            </a:r>
          </a:p>
          <a:p>
            <a:r>
              <a:t>A: No. CPPA-G liquidity collapses without sovereign subsidies unless NTL is brought under 10% nationwide.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To solve power theft in Pakistan, you must understand the physical infrastructure. Electricity flows from 132kV substations down 11kV radial feeders into Pole-Mounted Transformers—the local 'Khamba'. Each khamba feeds roughly 30 to 35 households. This is the vulnerable frontier: low-voltage drop lines where unmetered kundas are hooked. 65% of the meters on these walls are mechanical discs with zero remote telemetry.</a:t>
            </a:r>
          </a:p>
          <a:p/>
          <a:p>
            <a:r>
              <a:t>ANTICIPATED JUDGE Q&amp;A DEFENSE:</a:t>
            </a:r>
          </a:p>
          <a:p>
            <a:r>
              <a:t>Q: Why don't linemen just cut down every kunda they see?</a:t>
            </a:r>
          </a:p>
          <a:p>
            <a:r>
              <a:t>A: Kundas are frequently connected only at night during peak hours or summer heatwaves and removed before morning inspections, or linemen are paid off by local syndicates.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Why are DISCO inspection teams failing? Because they are flying blind. They conduct manual spot checks that find theft on barely 3 out of every 100 raids. Worse, meter readers collude with commercial consumers, manually entering lower numbers in their handheld devices. And off-the-shelf Western AI fails because it doesn't understand Pakistan's grid realities.</a:t>
            </a:r>
          </a:p>
          <a:p/>
          <a:p>
            <a:r>
              <a:t>ANTICIPATED JUDGE Q&amp;A DEFENSE:</a:t>
            </a:r>
          </a:p>
          <a:p>
            <a:r>
              <a:t>Q: How does Istikshaf bypass corrupted meter reader reports?</a:t>
            </a:r>
          </a:p>
          <a:p>
            <a:r>
              <a:t>A: Istikshaf balances energy at the transformer totalizer level: even if a meter reader under-reports consumer units, the energy gap at the PMT reveals the deficit mathematically.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Here is why naive machine learning creates public relations disasters for DISCOs: when load shedding strikes, power usage drops across the feeder. An off-the-shelf model flags the entire neighborhood as a theft syndicate. When an honest citizen installs solar panels, their midday grid draw drops 85%—naive AI triggers a police raid. Istikshaf builds physical invariance into the features, eliminating these false alarms completely.</a:t>
            </a:r>
          </a:p>
          <a:p/>
          <a:p>
            <a:r>
              <a:t>ANTICIPATED JUDGE Q&amp;A DEFENSE:</a:t>
            </a:r>
          </a:p>
          <a:p>
            <a:r>
              <a:t>Q: What happens if an unregistered solar user drops their load?</a:t>
            </a:r>
          </a:p>
          <a:p>
            <a:r>
              <a:t>A: The Midday Duck Index captures the solar generation signature specifically between 10 AM and 3 PM while evening peak draw remains high, separating solar generation from full-day theft.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Look at the scale of our data engineering. Track 1 captures 10,000 consumers across 30 feeders and 300 transformers over 3 full years. Every single transformer adheres to thermodynamic conservation laws. Track 2 disaggregates 2,000 smart meter consumers into 51.8 million hourly telemetry readings. Our out-of-core PyArrow engine processes the entire 51.8 million records in 5.5 minutes on lightweight hardware.</a:t>
            </a:r>
          </a:p>
          <a:p/>
          <a:p>
            <a:r>
              <a:t>ANTICIPATED JUDGE Q&amp;A DEFENSE:</a:t>
            </a:r>
          </a:p>
          <a:p>
            <a:r>
              <a:t>Q: Can your pipeline handle live streaming smart meter feeds?</a:t>
            </a:r>
          </a:p>
          <a:p>
            <a:r>
              <a:t>A: Yes. The PyArrow batch aggregator operates on micro-batches, allowing sub-second incremental feature updates as hourly smart meter payloads arrive.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Here is why smart meters are revolutionary when paired with Istikshaf: Consider the Peak Shaver. Under NEPRA rules, peak units cost 2.5 times more. A consumer bypasses the meter strictly between 6 PM and 10 PM. On a monthly bill, this looks like a minor 6% drop—invisible. But at 1-hour resolution, their peak window drops to zero while daytime is active. Our model catches 58.3% of these evaders—a 5.5-fold increase.</a:t>
            </a:r>
          </a:p>
          <a:p/>
          <a:p>
            <a:r>
              <a:t>ANTICIPATED JUDGE Q&amp;A DEFENSE:</a:t>
            </a:r>
          </a:p>
          <a:p>
            <a:r>
              <a:t>Q: Why not sample at 15-minute intervals?</a:t>
            </a:r>
          </a:p>
          <a:p>
            <a:r>
              <a:t>A: In Pakistan, transmitting 15-minute telemetry over cellular SIMs quadruples telecom data costs and battery drain on meters without providing statistically significant detection uplift over 1-hour sampling.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Theft in Pakistan is not uniform. It follows distinct human strategies. We modeled 14 precise archetypes. Consider the Slab Defender: crossing 200 units doubles your per-unit bill, so consumers tamper only near the end of the month. Or the Nighttime AC user who flips a bypass switch strictly while sleeping. We also model legitimate confounders like village travelers and inverter upgrades so innocent consumers are protected.</a:t>
            </a:r>
          </a:p>
          <a:p/>
          <a:p>
            <a:r>
              <a:t>ANTICIPATED JUDGE Q&amp;A DEFENSE:</a:t>
            </a:r>
          </a:p>
          <a:p>
            <a:r>
              <a:t>Q: How does the model identify collusion among meter readers?</a:t>
            </a:r>
          </a:p>
          <a:p>
            <a:r>
              <a:t>A: Collusion archetypes occur along specific meter reader route IDs (R-COL-01 to 05). By correlating route IDs with transformer loss percentiles, the system detects collective reader suppression.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Look at this chart. This is why high-frequency interval data transforms detection. In white is the normal Pakistani household. In cyan is a solar prosumer—notice the deep midday duck curve, but notice how it rebounds in the evening. In coral is the Peak Shaver: active all day, but flatlining strictly during the NEPRA peak window. In orange is the Night AC bypass. These signatures are unmistakable at hourly resolution.</a:t>
            </a:r>
          </a:p>
          <a:p/>
          <a:p>
            <a:r>
              <a:t>ANTICIPATED JUDGE Q&amp;A DEFENSE:</a:t>
            </a:r>
          </a:p>
          <a:p>
            <a:r>
              <a:t>Q: How do you handle cellular GPRS packet drops in smart meters?</a:t>
            </a:r>
          </a:p>
          <a:p>
            <a:r>
              <a:t>A: Our interval engine models 1.5% cellular telemetry packet drops (NaNs) and uses rolling spline interpolation to ensure robust feature extraction despite intermittent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Here is why our architecture is unmatched. We combine unsupervised and supervised intelligence. An Out-of-Fold Isolation Forest scans for 'unknown unknowns'—brand-new tampering tricks never seen in training. That signal feeds into an extreme gradient-boosted ensemble tuned with an asymmetric 11.5x penalty on missed theft. Finally, a frozen Platt Scaler calibrates the outputs into true probabilities that utility executives can stake their budgets on.</a:t>
            </a:r>
          </a:p>
          <a:p/>
          <a:p>
            <a:r>
              <a:t>ANTICIPATED JUDGE Q&amp;A DEFENSE:</a:t>
            </a:r>
          </a:p>
          <a:p>
            <a:r>
              <a:t>Q: Why use GroupKFold on consumer_id?</a:t>
            </a:r>
          </a:p>
          <a:p>
            <a:r>
              <a:t>A: Standard K-Fold splits random rows, leaking past months of a consumer into the test set of the same consumer. GroupKFold ensures a consumer's entire 36-month panel is either completely in train or completely in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We engineered 19 domain-grounded features. Our vectorized CUSUM algorithm detects the exact month a bypass began, without leaking future data. Our clean baseline anchor prevents rolling averages from absorbing stolen power. And our uptime-discount feature normalizes consumer draw against feeder availability, meaning load shedding never triggers a false alarm.</a:t>
            </a:r>
          </a:p>
          <a:p/>
          <a:p>
            <a:r>
              <a:t>ANTICIPATED JUDGE Q&amp;A DEFENSE:</a:t>
            </a:r>
          </a:p>
          <a:p>
            <a:r>
              <a:t>Q: Why are scale-invariant ratios critical for Track 2?</a:t>
            </a:r>
          </a:p>
          <a:p>
            <a:r>
              <a:t>A: Scale-invariant ratios look at the *shape* of consumption rather than absolute kilowatt-hours, allowing the model to detect theft on 1 kW small shops and 50 kW commercial plazas with identical mathematical precision.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The numbers prove our superiority. In standard monthly grids, Istikshaf delivers 69.7% precision—a 19.3-fold increase in raid efficiency over current utility spot-checks. When smart meters are introduced, our streaming engine more than doubles recall to 45.7% and achieves a 5.5x increase in catching peak-hour evaders. All while delivering a zero-percent false alarm rate on solar homes.</a:t>
            </a:r>
          </a:p>
          <a:p/>
          <a:p>
            <a:r>
              <a:t>ANTICIPATED JUDGE Q&amp;A DEFENSE:</a:t>
            </a:r>
          </a:p>
          <a:p>
            <a:r>
              <a:t>Q: How do you verify these metrics are out-of-sample?</a:t>
            </a:r>
          </a:p>
          <a:p>
            <a:r>
              <a:t>A: All metrics are computed strictly on the held-out 20% evaluation split (Months 31 to 36, grouped by consumer_id). The model was never exposed to these consumers during training or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A probability score on a dashboard recovers zero rupees. That is why we built the Istikshaf 8-Agent Swarm. The Confound Agent verifies feeder uptime. The Dedup Guard ensures crews aren't dispatched twice to the same site. The Recidivism Agent tracks repeat offenders. And our Soft-Warning Agent automatically nudges medium-risk consumers via SMS, recovering revenue before spending raid resources.</a:t>
            </a:r>
          </a:p>
          <a:p/>
          <a:p>
            <a:r>
              <a:t>ANTICIPATED JUDGE Q&amp;A DEFENSE:</a:t>
            </a:r>
          </a:p>
          <a:p>
            <a:r>
              <a:t>Q: How does the agent loop integrate with SMS gateways?</a:t>
            </a:r>
          </a:p>
          <a:p>
            <a:r>
              <a:t>A: The Dual-Router outputs standard REST webhooks compatible with Twilio or local Pakistani telecom SMS aggregators (e.g. Jazz, Telenor, Zong).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AI must be defensible in tribunal hearings and actionable for linemen who don't read English machine learning vectors. Using TreeSHAP, every inspection docket details the exact physical factors that triggered the alert. Our Urdu Localization Agent translates these technical attributions into natural Roman Urdu, sent directly to field inspectors' mobile phones via SMS. No guesswork, no ambiguity—just actionable intelligence.</a:t>
            </a:r>
          </a:p>
          <a:p/>
          <a:p>
            <a:r>
              <a:t>ANTICIPATED JUDGE Q&amp;A DEFENSE:</a:t>
            </a:r>
          </a:p>
          <a:p>
            <a:r>
              <a:t>Q: How do you verify the Roman Urdu messages don't hallucinate?</a:t>
            </a:r>
          </a:p>
          <a:p>
            <a:r>
              <a:t>A: The localization agent uses constrained slot-filling templates bound directly to the top TreeSHAP features, ensuring zero LLM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We packaged this intelligence into Istikshaf Grid Noir—a tactical, dark-mode desktop command center engineered specifically for utility operations. Designed on an information-dense 12-column grid, it allows dispatchers to monitor transformer health, interact with our 3D grid digital twin, inspect consumer histories, and trigger enforcement raids with a single click.</a:t>
            </a:r>
          </a:p>
          <a:p/>
          <a:p>
            <a:r>
              <a:t>ANTICIPATED JUDGE Q&amp;A DEFENSE:</a:t>
            </a:r>
          </a:p>
          <a:p>
            <a:r>
              <a:t>Q: How fast does the UI load on large consumer databases?</a:t>
            </a:r>
          </a:p>
          <a:p>
            <a:r>
              <a:t>A: The UI utilizes client-side virtualized tables and streaming JSON pagination, ensuring sub-100ms render speeds even on 100,000+ consumer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SPEAKER SCRIPT:</a:t>
            </a:r>
          </a:p>
          <a:p>
            <a:r>
              <a:t>Let's conclude with economics. Today, DISCO inspection teams spend millions finding theft on barely 3 out of every 100 raids. With Istikshaf, 7 out of 10 raids catch verified theft. For a utility like LESCO, this translates to over 14 Billion Rupees in annual revenue recovery with a payback period of under 45 days. Scaled across Pakistan, this recovers 140 Billion Rupees annually and directly breaks the Circular Debt spiral. Istikshaf is ready for deployment. Thank you.</a:t>
            </a:r>
          </a:p>
          <a:p/>
          <a:p>
            <a:r>
              <a:t>ANTICIPATED JUDGE Q&amp;A DEFENSE:</a:t>
            </a:r>
          </a:p>
          <a:p>
            <a:r>
              <a:t>Q: What are the immediate next steps to deploy in a utility?</a:t>
            </a:r>
          </a:p>
          <a:p>
            <a:r>
              <a:t>A: Phase 1: 90-day pilot deployment on 5 high-loss 11kV feeders in LESCO (Lahore). Phase 2: Integration with DISCO CIS/billing databases. Phase 3: Nationwide scaling across all 10 DISCO jurisdictions.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777240"/>
            <a:ext cx="10728655" cy="45720"/>
          </a:xfrm>
          <a:prstGeom prst="rect">
            <a:avLst/>
          </a:prstGeom>
          <a:solidFill>
            <a:srgbClr val="B6F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728655" cy="2103120"/>
          </a:xfrm>
          <a:prstGeom prst="rect">
            <a:avLst/>
          </a:prstGeom>
          <a:noFill/>
        </p:spPr>
        <p:txBody>
          <a:bodyPr wrap="square" lIns="0" tIns="0" rIns="0" bIns="0">
            <a:spAutoFit/>
          </a:bodyPr>
          <a:lstStyle/>
          <a:p>
            <a:pPr>
              <a:defRPr sz="5000" b="1">
                <a:solidFill>
                  <a:srgbClr val="B6F542"/>
                </a:solidFill>
                <a:latin typeface="Trebuchet MS"/>
              </a:defRPr>
            </a:pPr>
            <a:r>
              <a:t>ISTIKSHAF  [ استکشاف ]</a:t>
            </a:r>
          </a:p>
          <a:p>
            <a:pPr>
              <a:spcBef>
                <a:spcPts val="800"/>
              </a:spcBef>
              <a:defRPr sz="2400" b="1">
                <a:solidFill>
                  <a:srgbClr val="FFFFFF"/>
                </a:solidFill>
                <a:latin typeface="Trebuchet MS"/>
              </a:defRPr>
            </a:pPr>
            <a:r>
              <a:t>Autonomous Agentic Revenue Protection &amp; Explainable Grid AI</a:t>
            </a:r>
          </a:p>
          <a:p>
            <a:pPr>
              <a:spcBef>
                <a:spcPts val="600"/>
              </a:spcBef>
              <a:defRPr sz="1400">
                <a:solidFill>
                  <a:srgbClr val="E1E4D2"/>
                </a:solidFill>
                <a:latin typeface="Segoe UI"/>
              </a:defRPr>
            </a:pPr>
            <a:r>
              <a:t>Physics-Grounded Enterprise Intelligence Engine Defeating Non-Technical Losses across Pakistan's Power Grid</a:t>
            </a:r>
          </a:p>
        </p:txBody>
      </p:sp>
      <p:sp>
        <p:nvSpPr>
          <p:cNvPr id="5" name="Rounded Rectangle 4"/>
          <p:cNvSpPr/>
          <p:nvPr/>
        </p:nvSpPr>
        <p:spPr>
          <a:xfrm>
            <a:off x="731520" y="3291840"/>
            <a:ext cx="3291840" cy="17373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3419856"/>
            <a:ext cx="2962656" cy="1481328"/>
          </a:xfrm>
          <a:prstGeom prst="rect">
            <a:avLst/>
          </a:prstGeom>
          <a:noFill/>
        </p:spPr>
        <p:txBody>
          <a:bodyPr wrap="square" lIns="0" tIns="0" rIns="0" bIns="0">
            <a:spAutoFit/>
          </a:bodyPr>
          <a:lstStyle/>
          <a:p>
            <a:pPr>
              <a:defRPr sz="2800" b="1">
                <a:solidFill>
                  <a:srgbClr val="FFB4AB"/>
                </a:solidFill>
                <a:latin typeface="Trebuchet MS"/>
              </a:defRPr>
            </a:pPr>
            <a:r>
              <a:t>PKR 2.65T</a:t>
            </a:r>
          </a:p>
          <a:p>
            <a:pPr>
              <a:spcBef>
                <a:spcPts val="400"/>
              </a:spcBef>
              <a:defRPr sz="950" b="1">
                <a:solidFill>
                  <a:srgbClr val="E1E4D2"/>
                </a:solidFill>
                <a:latin typeface="Segoe UI"/>
              </a:defRPr>
            </a:pPr>
            <a:r>
              <a:t>CIRCULAR DEBT CRISIS</a:t>
            </a:r>
          </a:p>
          <a:p>
            <a:pPr>
              <a:spcBef>
                <a:spcPts val="200"/>
              </a:spcBef>
              <a:defRPr sz="850">
                <a:solidFill>
                  <a:srgbClr val="A0A891"/>
                </a:solidFill>
                <a:latin typeface="Segoe UI"/>
              </a:defRPr>
            </a:pPr>
            <a:r>
              <a:t>Suffocating national CPPA liquidity</a:t>
            </a:r>
          </a:p>
        </p:txBody>
      </p:sp>
      <p:sp>
        <p:nvSpPr>
          <p:cNvPr id="7" name="Rounded Rectangle 6"/>
          <p:cNvSpPr/>
          <p:nvPr/>
        </p:nvSpPr>
        <p:spPr>
          <a:xfrm>
            <a:off x="4389120" y="3291840"/>
            <a:ext cx="3291840" cy="17373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3419856"/>
            <a:ext cx="2962656" cy="1481328"/>
          </a:xfrm>
          <a:prstGeom prst="rect">
            <a:avLst/>
          </a:prstGeom>
          <a:noFill/>
        </p:spPr>
        <p:txBody>
          <a:bodyPr wrap="square" lIns="0" tIns="0" rIns="0" bIns="0">
            <a:spAutoFit/>
          </a:bodyPr>
          <a:lstStyle/>
          <a:p>
            <a:pPr>
              <a:defRPr sz="2800" b="1">
                <a:solidFill>
                  <a:srgbClr val="FFA726"/>
                </a:solidFill>
                <a:latin typeface="Trebuchet MS"/>
              </a:defRPr>
            </a:pPr>
            <a:r>
              <a:t>PKR 520B+</a:t>
            </a:r>
          </a:p>
          <a:p>
            <a:pPr>
              <a:spcBef>
                <a:spcPts val="400"/>
              </a:spcBef>
              <a:defRPr sz="950" b="1">
                <a:solidFill>
                  <a:srgbClr val="E1E4D2"/>
                </a:solidFill>
                <a:latin typeface="Segoe UI"/>
              </a:defRPr>
            </a:pPr>
            <a:r>
              <a:t>ANNUAL REVENUE LOST</a:t>
            </a:r>
          </a:p>
          <a:p>
            <a:pPr>
              <a:spcBef>
                <a:spcPts val="200"/>
              </a:spcBef>
              <a:defRPr sz="850">
                <a:solidFill>
                  <a:srgbClr val="A0A891"/>
                </a:solidFill>
                <a:latin typeface="Segoe UI"/>
              </a:defRPr>
            </a:pPr>
            <a:r>
              <a:t>Stolen via kundas &amp; meter bypasses</a:t>
            </a:r>
          </a:p>
        </p:txBody>
      </p:sp>
      <p:sp>
        <p:nvSpPr>
          <p:cNvPr id="9" name="Rounded Rectangle 8"/>
          <p:cNvSpPr/>
          <p:nvPr/>
        </p:nvSpPr>
        <p:spPr>
          <a:xfrm>
            <a:off x="8046720" y="3291840"/>
            <a:ext cx="3413455" cy="17373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3419856"/>
            <a:ext cx="3084271" cy="1481328"/>
          </a:xfrm>
          <a:prstGeom prst="rect">
            <a:avLst/>
          </a:prstGeom>
          <a:noFill/>
        </p:spPr>
        <p:txBody>
          <a:bodyPr wrap="square" lIns="0" tIns="0" rIns="0" bIns="0">
            <a:spAutoFit/>
          </a:bodyPr>
          <a:lstStyle/>
          <a:p>
            <a:pPr>
              <a:defRPr sz="2800" b="1">
                <a:solidFill>
                  <a:srgbClr val="B6F542"/>
                </a:solidFill>
                <a:latin typeface="Trebuchet MS"/>
              </a:defRPr>
            </a:pPr>
            <a:r>
              <a:t>19.3x</a:t>
            </a:r>
          </a:p>
          <a:p>
            <a:pPr>
              <a:spcBef>
                <a:spcPts val="400"/>
              </a:spcBef>
              <a:defRPr sz="950" b="1">
                <a:solidFill>
                  <a:srgbClr val="E1E4D2"/>
                </a:solidFill>
                <a:latin typeface="Segoe UI"/>
              </a:defRPr>
            </a:pPr>
            <a:r>
              <a:t>RAID PRECISION GAIN</a:t>
            </a:r>
          </a:p>
          <a:p>
            <a:pPr>
              <a:spcBef>
                <a:spcPts val="200"/>
              </a:spcBef>
              <a:defRPr sz="850">
                <a:solidFill>
                  <a:srgbClr val="A0A891"/>
                </a:solidFill>
                <a:latin typeface="Segoe UI"/>
              </a:defRPr>
            </a:pPr>
            <a:r>
              <a:t>From 3.6% to 69.7% targeted accuracy</a:t>
            </a:r>
          </a:p>
        </p:txBody>
      </p:sp>
      <p:sp>
        <p:nvSpPr>
          <p:cNvPr id="11" name="TextBox 10"/>
          <p:cNvSpPr txBox="1"/>
          <p:nvPr/>
        </p:nvSpPr>
        <p:spPr>
          <a:xfrm>
            <a:off x="731520" y="5230368"/>
            <a:ext cx="10728655" cy="320040"/>
          </a:xfrm>
          <a:prstGeom prst="rect">
            <a:avLst/>
          </a:prstGeom>
          <a:noFill/>
        </p:spPr>
        <p:txBody>
          <a:bodyPr wrap="none" lIns="0" tIns="0" rIns="0" bIns="0">
            <a:spAutoFit/>
          </a:bodyPr>
          <a:lstStyle/>
          <a:p>
            <a:pPr>
              <a:defRPr sz="1100" b="1">
                <a:solidFill>
                  <a:srgbClr val="B6F542"/>
                </a:solidFill>
                <a:latin typeface="Consolas"/>
              </a:defRPr>
            </a:pPr>
            <a:r>
              <a:t>CORE ENGINEERING &amp; RESEARCH TEAM</a:t>
            </a:r>
          </a:p>
        </p:txBody>
      </p:sp>
      <p:sp>
        <p:nvSpPr>
          <p:cNvPr id="12" name="Rounded Rectangle 11"/>
          <p:cNvSpPr/>
          <p:nvPr/>
        </p:nvSpPr>
        <p:spPr>
          <a:xfrm>
            <a:off x="731520" y="5596128"/>
            <a:ext cx="2544775" cy="868680"/>
          </a:xfrm>
          <a:prstGeom prst="roundRect">
            <a:avLst/>
          </a:prstGeom>
          <a:solidFill>
            <a:srgbClr val="1F2516"/>
          </a:solidFill>
          <a:ln w="12700">
            <a:solidFill>
              <a:srgbClr val="506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5724144"/>
            <a:ext cx="2252167" cy="612648"/>
          </a:xfrm>
          <a:prstGeom prst="rect">
            <a:avLst/>
          </a:prstGeom>
          <a:noFill/>
        </p:spPr>
        <p:txBody>
          <a:bodyPr wrap="square" lIns="0" tIns="0" rIns="0" bIns="0">
            <a:spAutoFit/>
          </a:bodyPr>
          <a:lstStyle/>
          <a:p>
            <a:pPr>
              <a:defRPr sz="1400" b="1">
                <a:solidFill>
                  <a:srgbClr val="FFFFFF"/>
                </a:solidFill>
                <a:latin typeface="Trebuchet MS"/>
              </a:defRPr>
            </a:pPr>
            <a:r>
              <a:t>Hadiah Batool</a:t>
            </a:r>
          </a:p>
          <a:p>
            <a:pPr>
              <a:spcBef>
                <a:spcPts val="400"/>
              </a:spcBef>
              <a:defRPr sz="900" b="1">
                <a:solidFill>
                  <a:srgbClr val="45DCEB"/>
                </a:solidFill>
                <a:latin typeface="Consolas"/>
              </a:defRPr>
            </a:pPr>
            <a:r>
              <a:t>CORE ML &amp; RESEARCH</a:t>
            </a:r>
          </a:p>
        </p:txBody>
      </p:sp>
      <p:sp>
        <p:nvSpPr>
          <p:cNvPr id="14" name="Rounded Rectangle 13"/>
          <p:cNvSpPr/>
          <p:nvPr/>
        </p:nvSpPr>
        <p:spPr>
          <a:xfrm>
            <a:off x="3459175" y="5596128"/>
            <a:ext cx="2544775" cy="868680"/>
          </a:xfrm>
          <a:prstGeom prst="roundRect">
            <a:avLst/>
          </a:prstGeom>
          <a:solidFill>
            <a:srgbClr val="1F2516"/>
          </a:solidFill>
          <a:ln w="12700">
            <a:solidFill>
              <a:srgbClr val="506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5479" y="5724144"/>
            <a:ext cx="2252167" cy="612648"/>
          </a:xfrm>
          <a:prstGeom prst="rect">
            <a:avLst/>
          </a:prstGeom>
          <a:noFill/>
        </p:spPr>
        <p:txBody>
          <a:bodyPr wrap="square" lIns="0" tIns="0" rIns="0" bIns="0">
            <a:spAutoFit/>
          </a:bodyPr>
          <a:lstStyle/>
          <a:p>
            <a:pPr>
              <a:defRPr sz="1400" b="1">
                <a:solidFill>
                  <a:srgbClr val="FFFFFF"/>
                </a:solidFill>
                <a:latin typeface="Trebuchet MS"/>
              </a:defRPr>
            </a:pPr>
            <a:r>
              <a:t>Hashim Khushal Khan</a:t>
            </a:r>
          </a:p>
          <a:p>
            <a:pPr>
              <a:spcBef>
                <a:spcPts val="400"/>
              </a:spcBef>
              <a:defRPr sz="900" b="1">
                <a:solidFill>
                  <a:srgbClr val="45DCEB"/>
                </a:solidFill>
                <a:latin typeface="Consolas"/>
              </a:defRPr>
            </a:pPr>
            <a:r>
              <a:t>GRID PHYSICS &amp; MODELING</a:t>
            </a:r>
          </a:p>
        </p:txBody>
      </p:sp>
      <p:sp>
        <p:nvSpPr>
          <p:cNvPr id="16" name="Rounded Rectangle 15"/>
          <p:cNvSpPr/>
          <p:nvPr/>
        </p:nvSpPr>
        <p:spPr>
          <a:xfrm>
            <a:off x="6186830" y="5596128"/>
            <a:ext cx="2544775" cy="868680"/>
          </a:xfrm>
          <a:prstGeom prst="roundRect">
            <a:avLst/>
          </a:prstGeom>
          <a:solidFill>
            <a:srgbClr val="1F2516"/>
          </a:solidFill>
          <a:ln w="12700">
            <a:solidFill>
              <a:srgbClr val="506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3134" y="5724144"/>
            <a:ext cx="2252167" cy="612648"/>
          </a:xfrm>
          <a:prstGeom prst="rect">
            <a:avLst/>
          </a:prstGeom>
          <a:noFill/>
        </p:spPr>
        <p:txBody>
          <a:bodyPr wrap="square" lIns="0" tIns="0" rIns="0" bIns="0">
            <a:spAutoFit/>
          </a:bodyPr>
          <a:lstStyle/>
          <a:p>
            <a:pPr>
              <a:defRPr sz="1400" b="1">
                <a:solidFill>
                  <a:srgbClr val="FFFFFF"/>
                </a:solidFill>
                <a:latin typeface="Trebuchet MS"/>
              </a:defRPr>
            </a:pPr>
            <a:r>
              <a:t>Hamza Sultan</a:t>
            </a:r>
          </a:p>
          <a:p>
            <a:pPr>
              <a:spcBef>
                <a:spcPts val="400"/>
              </a:spcBef>
              <a:defRPr sz="900" b="1">
                <a:solidFill>
                  <a:srgbClr val="45DCEB"/>
                </a:solidFill>
                <a:latin typeface="Consolas"/>
              </a:defRPr>
            </a:pPr>
            <a:r>
              <a:t>SYSTEM &amp; AGENT ARCHITECTURE</a:t>
            </a:r>
          </a:p>
        </p:txBody>
      </p:sp>
      <p:sp>
        <p:nvSpPr>
          <p:cNvPr id="18" name="Rounded Rectangle 17"/>
          <p:cNvSpPr/>
          <p:nvPr/>
        </p:nvSpPr>
        <p:spPr>
          <a:xfrm>
            <a:off x="8914485" y="5596128"/>
            <a:ext cx="2544775" cy="868680"/>
          </a:xfrm>
          <a:prstGeom prst="roundRect">
            <a:avLst/>
          </a:prstGeom>
          <a:solidFill>
            <a:srgbClr val="1F2516"/>
          </a:solidFill>
          <a:ln w="12700">
            <a:solidFill>
              <a:srgbClr val="506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60789" y="5724144"/>
            <a:ext cx="2252167" cy="612648"/>
          </a:xfrm>
          <a:prstGeom prst="rect">
            <a:avLst/>
          </a:prstGeom>
          <a:noFill/>
        </p:spPr>
        <p:txBody>
          <a:bodyPr wrap="square" lIns="0" tIns="0" rIns="0" bIns="0">
            <a:spAutoFit/>
          </a:bodyPr>
          <a:lstStyle/>
          <a:p>
            <a:pPr>
              <a:defRPr sz="1400" b="1">
                <a:solidFill>
                  <a:srgbClr val="FFFFFF"/>
                </a:solidFill>
                <a:latin typeface="Trebuchet MS"/>
              </a:defRPr>
            </a:pPr>
            <a:r>
              <a:t>Huda Ali</a:t>
            </a:r>
          </a:p>
          <a:p>
            <a:pPr>
              <a:spcBef>
                <a:spcPts val="400"/>
              </a:spcBef>
              <a:defRPr sz="900" b="1">
                <a:solidFill>
                  <a:srgbClr val="45DCEB"/>
                </a:solidFill>
                <a:latin typeface="Consolas"/>
              </a:defRPr>
            </a:pPr>
            <a:r>
              <a:t>DATA &amp; STREAMING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MACRO ECONOMIC CRISIS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The Bleeding Grid: Pakistan's Power Sector in Numbers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10 Distribution Companies lose between 8% and 38% of distributed electricity annually</a:t>
            </a:r>
          </a:p>
        </p:txBody>
      </p:sp>
      <p:sp>
        <p:nvSpPr>
          <p:cNvPr id="6" name="Rounded Rectangle 5"/>
          <p:cNvSpPr/>
          <p:nvPr/>
        </p:nvSpPr>
        <p:spPr>
          <a:xfrm>
            <a:off x="731520" y="1691640"/>
            <a:ext cx="47548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389120" cy="4206240"/>
          </a:xfrm>
          <a:prstGeom prst="rect">
            <a:avLst/>
          </a:prstGeom>
          <a:noFill/>
        </p:spPr>
        <p:txBody>
          <a:bodyPr wrap="square">
            <a:spAutoFit/>
          </a:bodyPr>
          <a:lstStyle/>
          <a:p>
            <a:pPr>
              <a:defRPr sz="1100" b="1">
                <a:solidFill>
                  <a:srgbClr val="FFB4AB"/>
                </a:solidFill>
                <a:latin typeface="Trebuchet MS"/>
              </a:defRPr>
            </a:pPr>
            <a:r>
              <a:t>THE CIRCULAR DEBT ACCELERATOR</a:t>
            </a:r>
          </a:p>
          <a:p>
            <a:pPr>
              <a:spcBef>
                <a:spcPts val="600"/>
              </a:spcBef>
              <a:defRPr sz="1050" b="1">
                <a:solidFill>
                  <a:srgbClr val="E1E4D2"/>
                </a:solidFill>
                <a:latin typeface="Segoe UI"/>
              </a:defRPr>
            </a:pPr>
            <a:r>
              <a:t>• National Average NTL (18.5%): </a:t>
            </a:r>
            <a:r>
              <a:rPr sz="950" b="0">
                <a:solidFill>
                  <a:srgbClr val="A0A891"/>
                </a:solidFill>
                <a:latin typeface="Segoe UI"/>
              </a:rPr>
              <a:t>Non-technical loss across Pakistan's distribution grid averages 18.5%, with regional hot-spots like PESCO (37.4%) and SEPCO (35.8%) hemorrhaging over a third of distributed energy.</a:t>
            </a:r>
          </a:p>
          <a:p>
            <a:pPr>
              <a:spcBef>
                <a:spcPts val="800"/>
              </a:spcBef>
              <a:defRPr sz="1050" b="1">
                <a:solidFill>
                  <a:srgbClr val="E1E4D2"/>
                </a:solidFill>
                <a:latin typeface="Segoe UI"/>
              </a:defRPr>
            </a:pPr>
            <a:r>
              <a:t>• Fiscal Black Hole: </a:t>
            </a:r>
            <a:r>
              <a:rPr sz="950" b="0">
                <a:solidFill>
                  <a:srgbClr val="A0A891"/>
                </a:solidFill>
                <a:latin typeface="Segoe UI"/>
              </a:rPr>
              <a:t>Over PKR 520 Billion is stolen annually, forcing repetitive tariff hikes that penalize law-abiding consumers while leaving utility balance sheets insolvent.</a:t>
            </a:r>
          </a:p>
          <a:p>
            <a:pPr>
              <a:spcBef>
                <a:spcPts val="800"/>
              </a:spcBef>
              <a:defRPr sz="1050" b="1">
                <a:solidFill>
                  <a:srgbClr val="E1E4D2"/>
                </a:solidFill>
                <a:latin typeface="Segoe UI"/>
              </a:defRPr>
            </a:pPr>
            <a:r>
              <a:t>• IMF Conditionalities: </a:t>
            </a:r>
            <a:r>
              <a:rPr sz="950" b="0">
                <a:solidFill>
                  <a:srgbClr val="A0A891"/>
                </a:solidFill>
                <a:latin typeface="Segoe UI"/>
              </a:rPr>
              <a:t>Stabilizing circular debt is a non-negotiable structural benchmark for sovereign credit ratings and macroeconomic liquidity.</a:t>
            </a:r>
          </a:p>
        </p:txBody>
      </p:sp>
      <p:pic>
        <p:nvPicPr>
          <p:cNvPr id="8" name="Picture 7" descr="disco_losses.png"/>
          <p:cNvPicPr>
            <a:picLocks noChangeAspect="1"/>
          </p:cNvPicPr>
          <p:nvPr/>
        </p:nvPicPr>
        <p:blipFill>
          <a:blip r:embed="rId3"/>
          <a:stretch>
            <a:fillRect/>
          </a:stretch>
        </p:blipFill>
        <p:spPr>
          <a:xfrm>
            <a:off x="5760720" y="1691640"/>
            <a:ext cx="5699455" cy="385551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PHYSICAL DISTRIBUTION REALITY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The Infrastructure Battleground: Feeders, Transformers &amp; Khambe</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How physical energy distribution operates across 11kV overhead radial feeders</a:t>
            </a:r>
          </a:p>
        </p:txBody>
      </p:sp>
      <p:pic>
        <p:nvPicPr>
          <p:cNvPr id="6" name="Picture 5" descr="cyber_pole.jpg"/>
          <p:cNvPicPr>
            <a:picLocks noChangeAspect="1"/>
          </p:cNvPicPr>
          <p:nvPr/>
        </p:nvPicPr>
        <p:blipFill>
          <a:blip r:embed="rId3"/>
          <a:stretch>
            <a:fillRect/>
          </a:stretch>
        </p:blipFill>
        <p:spPr>
          <a:xfrm>
            <a:off x="731520" y="1691640"/>
            <a:ext cx="5486400" cy="3062177"/>
          </a:xfrm>
          <a:prstGeom prst="rect">
            <a:avLst/>
          </a:prstGeom>
        </p:spPr>
      </p:pic>
      <p:sp>
        <p:nvSpPr>
          <p:cNvPr id="7" name="Rounded Rectangle 6"/>
          <p:cNvSpPr/>
          <p:nvPr/>
        </p:nvSpPr>
        <p:spPr>
          <a:xfrm>
            <a:off x="6492240" y="1691640"/>
            <a:ext cx="4967935"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874519"/>
            <a:ext cx="4602175" cy="4206240"/>
          </a:xfrm>
          <a:prstGeom prst="rect">
            <a:avLst/>
          </a:prstGeom>
          <a:noFill/>
        </p:spPr>
        <p:txBody>
          <a:bodyPr wrap="square">
            <a:spAutoFit/>
          </a:bodyPr>
          <a:lstStyle/>
          <a:p>
            <a:pPr>
              <a:defRPr sz="1100" b="1">
                <a:solidFill>
                  <a:srgbClr val="B6F542"/>
                </a:solidFill>
                <a:latin typeface="Trebuchet MS"/>
              </a:defRPr>
            </a:pPr>
            <a:r>
              <a:t>THE 3-TIER GRID HIERARCHY</a:t>
            </a:r>
          </a:p>
          <a:p>
            <a:pPr>
              <a:spcBef>
                <a:spcPts val="600"/>
              </a:spcBef>
              <a:defRPr sz="1050" b="1">
                <a:solidFill>
                  <a:srgbClr val="E1E4D2"/>
                </a:solidFill>
                <a:latin typeface="Segoe UI"/>
              </a:defRPr>
            </a:pPr>
            <a:r>
              <a:t>• 11kV Primary Distribution Feeders: </a:t>
            </a:r>
            <a:r>
              <a:rPr sz="950" b="0">
                <a:solidFill>
                  <a:srgbClr val="A0A891"/>
                </a:solidFill>
                <a:latin typeface="Segoe UI"/>
              </a:rPr>
              <a:t>Radial medium-voltage lines spanning long geographic distances, subject to high non-linear thermal dissipation (I²R losses).</a:t>
            </a:r>
          </a:p>
          <a:p>
            <a:pPr>
              <a:spcBef>
                <a:spcPts val="800"/>
              </a:spcBef>
              <a:defRPr sz="1050" b="1">
                <a:solidFill>
                  <a:srgbClr val="E1E4D2"/>
                </a:solidFill>
                <a:latin typeface="Segoe UI"/>
              </a:defRPr>
            </a:pPr>
            <a:r>
              <a:t>• Pole-Mounted Transformers (PMTs / Khambe): </a:t>
            </a:r>
            <a:r>
              <a:rPr sz="950" b="0">
                <a:solidFill>
                  <a:srgbClr val="A0A891"/>
                </a:solidFill>
                <a:latin typeface="Segoe UI"/>
              </a:rPr>
              <a:t>Step down 11kV to 415V/230V for local clusters of 30-35 consumers. The critical aggregation choke-point where energy balance must be conserved.</a:t>
            </a:r>
          </a:p>
          <a:p>
            <a:pPr>
              <a:spcBef>
                <a:spcPts val="800"/>
              </a:spcBef>
              <a:defRPr sz="1050" b="1">
                <a:solidFill>
                  <a:srgbClr val="E1E4D2"/>
                </a:solidFill>
                <a:latin typeface="Segoe UI"/>
              </a:defRPr>
            </a:pPr>
            <a:r>
              <a:t>• Low-Voltage Drop Lines &amp; Kundas: </a:t>
            </a:r>
            <a:r>
              <a:rPr sz="950" b="0">
                <a:solidFill>
                  <a:srgbClr val="A0A891"/>
                </a:solidFill>
                <a:latin typeface="Segoe UI"/>
              </a:rPr>
              <a:t>Uninsulated overhead conductors where illegal kunda hooks are physically attached to bypass wall-mounted meters completely.</a:t>
            </a:r>
          </a:p>
          <a:p>
            <a:pPr>
              <a:spcBef>
                <a:spcPts val="800"/>
              </a:spcBef>
              <a:defRPr sz="1050" b="1">
                <a:solidFill>
                  <a:srgbClr val="E1E4D2"/>
                </a:solidFill>
                <a:latin typeface="Segoe UI"/>
              </a:defRPr>
            </a:pPr>
            <a:r>
              <a:t>• 65% Analog Meter Fleet: </a:t>
            </a:r>
            <a:r>
              <a:rPr sz="950" b="0">
                <a:solidFill>
                  <a:srgbClr val="A0A891"/>
                </a:solidFill>
                <a:latin typeface="Segoe UI"/>
              </a:rPr>
              <a:t>Legacy spinning aluminum disc meters vulnerable to external magnetic braking, needle jamming, and neutral loop cuts.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OPERATIONAL VULNERABILITY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Why Current Utility Audits Fail: Blind Spot-Checks &amp; Bribery</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Traditional revenue protection relies on manual guesswork that misses 96% of theft</a:t>
            </a:r>
          </a:p>
        </p:txBody>
      </p:sp>
      <p:sp>
        <p:nvSpPr>
          <p:cNvPr id="6" name="Rounded Rectangle 5"/>
          <p:cNvSpPr/>
          <p:nvPr/>
        </p:nvSpPr>
        <p:spPr>
          <a:xfrm>
            <a:off x="731520"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063240" cy="4114800"/>
          </a:xfrm>
          <a:prstGeom prst="rect">
            <a:avLst/>
          </a:prstGeom>
          <a:noFill/>
        </p:spPr>
        <p:txBody>
          <a:bodyPr wrap="square">
            <a:spAutoFit/>
          </a:bodyPr>
          <a:lstStyle/>
          <a:p>
            <a:pPr>
              <a:defRPr sz="1150" b="1">
                <a:solidFill>
                  <a:srgbClr val="FFB4AB"/>
                </a:solidFill>
                <a:latin typeface="Trebuchet MS"/>
              </a:defRPr>
            </a:pPr>
            <a:r>
              <a:t>1. THE 3.6% RANDOM HIT RATE</a:t>
            </a:r>
          </a:p>
          <a:p>
            <a:pPr>
              <a:spcBef>
                <a:spcPts val="600"/>
              </a:spcBef>
              <a:defRPr sz="1050" b="1">
                <a:solidFill>
                  <a:srgbClr val="E1E4D2"/>
                </a:solidFill>
                <a:latin typeface="Segoe UI"/>
              </a:defRPr>
            </a:pPr>
            <a:r>
              <a:t>• Blind Manual Patrols: </a:t>
            </a:r>
            <a:r>
              <a:rPr sz="950" b="0">
                <a:solidFill>
                  <a:srgbClr val="A0A891"/>
                </a:solidFill>
                <a:latin typeface="Segoe UI"/>
              </a:rPr>
              <a:t>Linemen drive patrol trucks down streets inspecting random connections. Over 96 out of 100 inspections find nothing.</a:t>
            </a:r>
          </a:p>
          <a:p>
            <a:pPr>
              <a:spcBef>
                <a:spcPts val="800"/>
              </a:spcBef>
              <a:defRPr sz="1050" b="1">
                <a:solidFill>
                  <a:srgbClr val="E1E4D2"/>
                </a:solidFill>
                <a:latin typeface="Segoe UI"/>
              </a:defRPr>
            </a:pPr>
            <a:r>
              <a:t>• Enormous Logistical Waste: </a:t>
            </a:r>
            <a:r>
              <a:rPr sz="950" b="0">
                <a:solidFill>
                  <a:srgbClr val="A0A891"/>
                </a:solidFill>
                <a:latin typeface="Segoe UI"/>
              </a:rPr>
              <a:t>DISCOs burn millions in fuel, vehicle maintenance, and inspector man-hours with virtually zero deterrence.</a:t>
            </a:r>
          </a:p>
        </p:txBody>
      </p:sp>
      <p:sp>
        <p:nvSpPr>
          <p:cNvPr id="8" name="Rounded Rectangle 7"/>
          <p:cNvSpPr/>
          <p:nvPr/>
        </p:nvSpPr>
        <p:spPr>
          <a:xfrm>
            <a:off x="4370832"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920240"/>
            <a:ext cx="3063240" cy="4114800"/>
          </a:xfrm>
          <a:prstGeom prst="rect">
            <a:avLst/>
          </a:prstGeom>
          <a:noFill/>
        </p:spPr>
        <p:txBody>
          <a:bodyPr wrap="square">
            <a:spAutoFit/>
          </a:bodyPr>
          <a:lstStyle/>
          <a:p>
            <a:pPr>
              <a:defRPr sz="1150" b="1">
                <a:solidFill>
                  <a:srgbClr val="FFA726"/>
                </a:solidFill>
                <a:latin typeface="Trebuchet MS"/>
              </a:defRPr>
            </a:pPr>
            <a:r>
              <a:t>2. THE COLLUSION RING</a:t>
            </a:r>
          </a:p>
          <a:p>
            <a:pPr>
              <a:spcBef>
                <a:spcPts val="600"/>
              </a:spcBef>
              <a:defRPr sz="1050" b="1">
                <a:solidFill>
                  <a:srgbClr val="E1E4D2"/>
                </a:solidFill>
                <a:latin typeface="Segoe UI"/>
              </a:defRPr>
            </a:pPr>
            <a:r>
              <a:t>• Handheld Terminal Fraud: </a:t>
            </a:r>
            <a:r>
              <a:rPr sz="950" b="0">
                <a:solidFill>
                  <a:srgbClr val="A0A891"/>
                </a:solidFill>
                <a:latin typeface="Segoe UI"/>
              </a:rPr>
              <a:t>Corrupt meter readers enter artificially suppressed readings for commercial plazas in exchange for monthly bribes.</a:t>
            </a:r>
          </a:p>
          <a:p>
            <a:pPr>
              <a:spcBef>
                <a:spcPts val="800"/>
              </a:spcBef>
              <a:defRPr sz="1050" b="1">
                <a:solidFill>
                  <a:srgbClr val="E1E4D2"/>
                </a:solidFill>
                <a:latin typeface="Segoe UI"/>
              </a:defRPr>
            </a:pPr>
            <a:r>
              <a:t>• Corrupted Inspection Logs: </a:t>
            </a:r>
            <a:r>
              <a:rPr sz="950" b="0">
                <a:solidFill>
                  <a:srgbClr val="A0A891"/>
                </a:solidFill>
                <a:latin typeface="Segoe UI"/>
              </a:rPr>
              <a:t>Historical utility databases are poisoned: innocent consumers are falsely cited while heavy industrial thieves remain unrecorded.</a:t>
            </a:r>
          </a:p>
        </p:txBody>
      </p:sp>
      <p:sp>
        <p:nvSpPr>
          <p:cNvPr id="10" name="Rounded Rectangle 9"/>
          <p:cNvSpPr/>
          <p:nvPr/>
        </p:nvSpPr>
        <p:spPr>
          <a:xfrm>
            <a:off x="8010144" y="1737360"/>
            <a:ext cx="3450031"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920240"/>
            <a:ext cx="3084271" cy="4114800"/>
          </a:xfrm>
          <a:prstGeom prst="rect">
            <a:avLst/>
          </a:prstGeom>
          <a:noFill/>
        </p:spPr>
        <p:txBody>
          <a:bodyPr wrap="square">
            <a:spAutoFit/>
          </a:bodyPr>
          <a:lstStyle/>
          <a:p>
            <a:pPr>
              <a:defRPr sz="1150" b="1">
                <a:solidFill>
                  <a:srgbClr val="45DCEB"/>
                </a:solidFill>
                <a:latin typeface="Trebuchet MS"/>
              </a:defRPr>
            </a:pPr>
            <a:r>
              <a:t>3. WESTERN AI FAILURES</a:t>
            </a:r>
          </a:p>
          <a:p>
            <a:pPr>
              <a:spcBef>
                <a:spcPts val="600"/>
              </a:spcBef>
              <a:defRPr sz="1050" b="1">
                <a:solidFill>
                  <a:srgbClr val="E1E4D2"/>
                </a:solidFill>
                <a:latin typeface="Segoe UI"/>
              </a:defRPr>
            </a:pPr>
            <a:r>
              <a:t>• Presupposes 100% Smart Grid: </a:t>
            </a:r>
            <a:r>
              <a:rPr sz="950" b="0">
                <a:solidFill>
                  <a:srgbClr val="A0A891"/>
                </a:solidFill>
                <a:latin typeface="Segoe UI"/>
              </a:rPr>
              <a:t>Foreign models assume 15-minute cellular telemetry and continuous 99.9% grid uptime.</a:t>
            </a:r>
          </a:p>
          <a:p>
            <a:pPr>
              <a:spcBef>
                <a:spcPts val="800"/>
              </a:spcBef>
              <a:defRPr sz="1050" b="1">
                <a:solidFill>
                  <a:srgbClr val="E1E4D2"/>
                </a:solidFill>
                <a:latin typeface="Segoe UI"/>
              </a:defRPr>
            </a:pPr>
            <a:r>
              <a:t>• Confounder Blindness: </a:t>
            </a:r>
            <a:r>
              <a:rPr sz="950" b="0">
                <a:solidFill>
                  <a:srgbClr val="A0A891"/>
                </a:solidFill>
                <a:latin typeface="Segoe UI"/>
              </a:rPr>
              <a:t>Treats unscheduled load-shedding blackouts and rooftop solar net-metering as criminal meter tampering.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DOMAIN COMPLEXITY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Local Grid Confounders That Break Conventional AI Models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How load shedding, rooftop solar, and extreme climate generate false positives</a:t>
            </a:r>
          </a:p>
        </p:txBody>
      </p:sp>
      <p:sp>
        <p:nvSpPr>
          <p:cNvPr id="6" name="Rounded Rectangle 5"/>
          <p:cNvSpPr/>
          <p:nvPr/>
        </p:nvSpPr>
        <p:spPr>
          <a:xfrm>
            <a:off x="731520" y="173736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1874520"/>
          </a:xfrm>
          <a:prstGeom prst="rect">
            <a:avLst/>
          </a:prstGeom>
          <a:noFill/>
        </p:spPr>
        <p:txBody>
          <a:bodyPr wrap="square">
            <a:spAutoFit/>
          </a:bodyPr>
          <a:lstStyle/>
          <a:p>
            <a:pPr>
              <a:defRPr sz="1100" b="1">
                <a:solidFill>
                  <a:srgbClr val="FFA726"/>
                </a:solidFill>
                <a:latin typeface="Trebuchet MS"/>
              </a:defRPr>
            </a:pPr>
            <a:r>
              <a:t>1. UNSCHEDULED LOAD SHEDDING (OUTAGES)</a:t>
            </a:r>
          </a:p>
          <a:p>
            <a:pPr>
              <a:spcBef>
                <a:spcPts val="400"/>
              </a:spcBef>
              <a:defRPr sz="1050" b="1">
                <a:solidFill>
                  <a:srgbClr val="E1E4D2"/>
                </a:solidFill>
                <a:latin typeface="Segoe UI"/>
              </a:defRPr>
            </a:pPr>
            <a:r>
              <a:t>• The Feeder Outage Trap: </a:t>
            </a:r>
            <a:r>
              <a:rPr sz="950" b="0">
                <a:solidFill>
                  <a:srgbClr val="A0A891"/>
                </a:solidFill>
                <a:latin typeface="Segoe UI"/>
              </a:rPr>
              <a:t>When feeder uptime drops to 75% during rolling blackouts, all 33 consumers on a transformer drop consumption simultaneously.</a:t>
            </a:r>
          </a:p>
          <a:p>
            <a:pPr>
              <a:spcBef>
                <a:spcPts val="400"/>
              </a:spcBef>
              <a:defRPr sz="1050" b="1">
                <a:solidFill>
                  <a:srgbClr val="E1E4D2"/>
                </a:solidFill>
                <a:latin typeface="Segoe UI"/>
              </a:defRPr>
            </a:pPr>
            <a:r>
              <a:t>• Istikshaf Normalization: </a:t>
            </a:r>
            <a:r>
              <a:rPr sz="950" b="0">
                <a:solidFill>
                  <a:srgbClr val="A0A891"/>
                </a:solidFill>
                <a:latin typeface="Segoe UI"/>
              </a:rPr>
              <a:t>Our uptime-discount feature divides usage deviation by feeder uptime: Usage_Dev / Uptime_feeder, neutralizing blackout false alarms.</a:t>
            </a:r>
          </a:p>
        </p:txBody>
      </p:sp>
      <p:sp>
        <p:nvSpPr>
          <p:cNvPr id="8" name="Rounded Rectangle 7"/>
          <p:cNvSpPr/>
          <p:nvPr/>
        </p:nvSpPr>
        <p:spPr>
          <a:xfrm>
            <a:off x="6217920" y="173736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46320" cy="1874520"/>
          </a:xfrm>
          <a:prstGeom prst="rect">
            <a:avLst/>
          </a:prstGeom>
          <a:noFill/>
        </p:spPr>
        <p:txBody>
          <a:bodyPr wrap="square">
            <a:spAutoFit/>
          </a:bodyPr>
          <a:lstStyle/>
          <a:p>
            <a:pPr>
              <a:defRPr sz="1100" b="1">
                <a:solidFill>
                  <a:srgbClr val="45DCEB"/>
                </a:solidFill>
                <a:latin typeface="Trebuchet MS"/>
              </a:defRPr>
            </a:pPr>
            <a:r>
              <a:t>2. ROOFTOP SOLAR DUCK CURVE (NET-METERING)</a:t>
            </a:r>
          </a:p>
          <a:p>
            <a:pPr>
              <a:spcBef>
                <a:spcPts val="400"/>
              </a:spcBef>
              <a:defRPr sz="1050" b="1">
                <a:solidFill>
                  <a:srgbClr val="E1E4D2"/>
                </a:solidFill>
                <a:latin typeface="Segoe UI"/>
              </a:defRPr>
            </a:pPr>
            <a:r>
              <a:t>• Midday Plunge (70-90% Drop): </a:t>
            </a:r>
            <a:r>
              <a:rPr sz="950" b="0">
                <a:solidFill>
                  <a:srgbClr val="A0A891"/>
                </a:solidFill>
                <a:latin typeface="Segoe UI"/>
              </a:rPr>
              <a:t>Residential solar prosumers export power during sunny midday hours, mimicking sudden meter tampering.</a:t>
            </a:r>
          </a:p>
          <a:p>
            <a:pPr>
              <a:spcBef>
                <a:spcPts val="400"/>
              </a:spcBef>
              <a:defRPr sz="1050" b="1">
                <a:solidFill>
                  <a:srgbClr val="E1E4D2"/>
                </a:solidFill>
                <a:latin typeface="Segoe UI"/>
              </a:defRPr>
            </a:pPr>
            <a:r>
              <a:t>• Istikshaf Solar Gate: </a:t>
            </a:r>
            <a:r>
              <a:rPr sz="950" b="0">
                <a:solidFill>
                  <a:srgbClr val="A0A891"/>
                </a:solidFill>
                <a:latin typeface="Segoe UI"/>
              </a:rPr>
              <a:t>Hard-gated to 0.0 for registered net-metering accounts, achieving 100% specificity (0.00% false alarms on solar homes).</a:t>
            </a:r>
          </a:p>
        </p:txBody>
      </p:sp>
      <p:sp>
        <p:nvSpPr>
          <p:cNvPr id="10" name="Rounded Rectangle 9"/>
          <p:cNvSpPr/>
          <p:nvPr/>
        </p:nvSpPr>
        <p:spPr>
          <a:xfrm>
            <a:off x="731520" y="411480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51960"/>
            <a:ext cx="4846320" cy="1874520"/>
          </a:xfrm>
          <a:prstGeom prst="rect">
            <a:avLst/>
          </a:prstGeom>
          <a:noFill/>
        </p:spPr>
        <p:txBody>
          <a:bodyPr wrap="square">
            <a:spAutoFit/>
          </a:bodyPr>
          <a:lstStyle/>
          <a:p>
            <a:pPr>
              <a:defRPr sz="1100" b="1">
                <a:solidFill>
                  <a:srgbClr val="B6F542"/>
                </a:solidFill>
                <a:latin typeface="Trebuchet MS"/>
              </a:defRPr>
            </a:pPr>
            <a:r>
              <a:t>3. CLIMATIC LOAD COUPLING</a:t>
            </a:r>
          </a:p>
          <a:p>
            <a:pPr>
              <a:spcBef>
                <a:spcPts val="400"/>
              </a:spcBef>
              <a:defRPr sz="1050" b="1">
                <a:solidFill>
                  <a:srgbClr val="E1E4D2"/>
                </a:solidFill>
                <a:latin typeface="Segoe UI"/>
              </a:defRPr>
            </a:pPr>
            <a:r>
              <a:t>• 45°C Heatwaves vs Winter Gas Gaps: </a:t>
            </a:r>
            <a:r>
              <a:rPr sz="950" b="0">
                <a:solidFill>
                  <a:srgbClr val="A0A891"/>
                </a:solidFill>
                <a:latin typeface="Segoe UI"/>
              </a:rPr>
              <a:t>Extreme summer nocturnal air-conditioning load contrasts with winter morning electric geyser spikes.</a:t>
            </a:r>
          </a:p>
          <a:p>
            <a:pPr>
              <a:spcBef>
                <a:spcPts val="400"/>
              </a:spcBef>
              <a:defRPr sz="1050" b="1">
                <a:solidFill>
                  <a:srgbClr val="E1E4D2"/>
                </a:solidFill>
                <a:latin typeface="Segoe UI"/>
              </a:defRPr>
            </a:pPr>
            <a:r>
              <a:t>• Istikshaf Seasonal Baseline: </a:t>
            </a:r>
            <a:r>
              <a:rPr sz="950" b="0">
                <a:solidFill>
                  <a:srgbClr val="A0A891"/>
                </a:solidFill>
                <a:latin typeface="Segoe UI"/>
              </a:rPr>
              <a:t>Models historical month-of-year baselines coupled with dynamic seasonal threshold adjustment agents.</a:t>
            </a:r>
          </a:p>
        </p:txBody>
      </p:sp>
      <p:sp>
        <p:nvSpPr>
          <p:cNvPr id="12" name="Rounded Rectangle 11"/>
          <p:cNvSpPr/>
          <p:nvPr/>
        </p:nvSpPr>
        <p:spPr>
          <a:xfrm>
            <a:off x="6217920" y="411480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51960"/>
            <a:ext cx="4846320" cy="1874520"/>
          </a:xfrm>
          <a:prstGeom prst="rect">
            <a:avLst/>
          </a:prstGeom>
          <a:noFill/>
        </p:spPr>
        <p:txBody>
          <a:bodyPr wrap="square">
            <a:spAutoFit/>
          </a:bodyPr>
          <a:lstStyle/>
          <a:p>
            <a:pPr>
              <a:defRPr sz="1100" b="1">
                <a:solidFill>
                  <a:srgbClr val="FFB4AB"/>
                </a:solidFill>
                <a:latin typeface="Trebuchet MS"/>
              </a:defRPr>
            </a:pPr>
            <a:r>
              <a:t>4. POVERTY BIAS VS. CRIMINAL THEFT</a:t>
            </a:r>
          </a:p>
          <a:p>
            <a:pPr>
              <a:spcBef>
                <a:spcPts val="400"/>
              </a:spcBef>
              <a:defRPr sz="1050" b="1">
                <a:solidFill>
                  <a:srgbClr val="E1E4D2"/>
                </a:solidFill>
                <a:latin typeface="Segoe UI"/>
              </a:defRPr>
            </a:pPr>
            <a:r>
              <a:t>• Arrears Conflation: </a:t>
            </a:r>
            <a:r>
              <a:rPr sz="950" b="0">
                <a:solidFill>
                  <a:srgbClr val="A0A891"/>
                </a:solidFill>
                <a:latin typeface="Segoe UI"/>
              </a:rPr>
              <a:t>Tariff hikes leave low-income households with unpaid debt. Off-the-shelf models treat debt as criminal theft.</a:t>
            </a:r>
          </a:p>
          <a:p>
            <a:pPr>
              <a:spcBef>
                <a:spcPts val="400"/>
              </a:spcBef>
              <a:defRPr sz="1050" b="1">
                <a:solidFill>
                  <a:srgbClr val="E1E4D2"/>
                </a:solidFill>
                <a:latin typeface="Segoe UI"/>
              </a:defRPr>
            </a:pPr>
            <a:r>
              <a:t>• Istikshaf Debt Normalization: </a:t>
            </a:r>
            <a:r>
              <a:rPr sz="950" b="0">
                <a:solidFill>
                  <a:srgbClr val="A0A891"/>
                </a:solidFill>
                <a:latin typeface="Segoe UI"/>
              </a:rPr>
              <a:t>Arrears are annualized and bounded at [0, 10], separating economic hardship from deliberate meter bypass.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DATA ENGINEERING &amp; SCALE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The 51.8 Million Telemetry Engine: Grounded in Physics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Dual-track architecture modeling 10,000 grid consumers and 51.8M hourly smart meter records</a:t>
            </a:r>
          </a:p>
        </p:txBody>
      </p:sp>
      <p:pic>
        <p:nvPicPr>
          <p:cNvPr id="6" name="Picture 5" descr="feeder_substation.jpg"/>
          <p:cNvPicPr>
            <a:picLocks noChangeAspect="1"/>
          </p:cNvPicPr>
          <p:nvPr/>
        </p:nvPicPr>
        <p:blipFill>
          <a:blip r:embed="rId3"/>
          <a:stretch>
            <a:fillRect/>
          </a:stretch>
        </p:blipFill>
        <p:spPr>
          <a:xfrm>
            <a:off x="731520" y="1691640"/>
            <a:ext cx="5486400" cy="3062177"/>
          </a:xfrm>
          <a:prstGeom prst="rect">
            <a:avLst/>
          </a:prstGeom>
        </p:spPr>
      </p:pic>
      <p:sp>
        <p:nvSpPr>
          <p:cNvPr id="7" name="Rounded Rectangle 6"/>
          <p:cNvSpPr/>
          <p:nvPr/>
        </p:nvSpPr>
        <p:spPr>
          <a:xfrm>
            <a:off x="6492240" y="1691640"/>
            <a:ext cx="4967935"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874519"/>
            <a:ext cx="4602175" cy="4206240"/>
          </a:xfrm>
          <a:prstGeom prst="rect">
            <a:avLst/>
          </a:prstGeom>
          <a:noFill/>
        </p:spPr>
        <p:txBody>
          <a:bodyPr wrap="square">
            <a:spAutoFit/>
          </a:bodyPr>
          <a:lstStyle/>
          <a:p>
            <a:pPr>
              <a:defRPr sz="1100" b="1">
                <a:solidFill>
                  <a:srgbClr val="45DCEB"/>
                </a:solidFill>
                <a:latin typeface="Trebuchet MS"/>
              </a:defRPr>
            </a:pPr>
            <a:r>
              <a:t>TRACK 1 &amp; TRACK 2 ARCHITECTURAL SPECS</a:t>
            </a:r>
          </a:p>
          <a:p>
            <a:pPr>
              <a:spcBef>
                <a:spcPts val="600"/>
              </a:spcBef>
              <a:defRPr sz="1050" b="1">
                <a:solidFill>
                  <a:srgbClr val="E1E4D2"/>
                </a:solidFill>
                <a:latin typeface="Segoe UI"/>
              </a:defRPr>
            </a:pPr>
            <a:r>
              <a:t>• 30 Feeders &amp; 300 PMTs: </a:t>
            </a:r>
            <a:r>
              <a:rPr sz="950" b="0">
                <a:solidFill>
                  <a:srgbClr val="A0A891"/>
                </a:solidFill>
                <a:latin typeface="Segoe UI"/>
              </a:rPr>
              <a:t>10,000 consumers mapped across a complete 3-tier distribution hierarchy operating over 36 consecutive months (360k panel records).</a:t>
            </a:r>
          </a:p>
          <a:p>
            <a:pPr>
              <a:spcBef>
                <a:spcPts val="800"/>
              </a:spcBef>
              <a:defRPr sz="1050" b="1">
                <a:solidFill>
                  <a:srgbClr val="E1E4D2"/>
                </a:solidFill>
                <a:latin typeface="Segoe UI"/>
              </a:defRPr>
            </a:pPr>
            <a:r>
              <a:t>• Thermodynamic Energy Balance: </a:t>
            </a:r>
            <a:r>
              <a:rPr sz="950" b="0">
                <a:solidFill>
                  <a:srgbClr val="A0A891"/>
                </a:solidFill>
                <a:latin typeface="Segoe UI"/>
              </a:rPr>
              <a:t>First Law of Thermodynamics enforced: |Injected - (Billed + Stolen + Technical Loss)| &lt; 0.5 kWh across all 300 transformers every month.</a:t>
            </a:r>
          </a:p>
          <a:p>
            <a:pPr>
              <a:spcBef>
                <a:spcPts val="800"/>
              </a:spcBef>
              <a:defRPr sz="1050" b="1">
                <a:solidFill>
                  <a:srgbClr val="E1E4D2"/>
                </a:solidFill>
                <a:latin typeface="Segoe UI"/>
              </a:defRPr>
            </a:pPr>
            <a:r>
              <a:t>• 51,819,270 Hourly Interval Rows: </a:t>
            </a:r>
            <a:r>
              <a:rPr sz="950" b="0">
                <a:solidFill>
                  <a:srgbClr val="A0A891"/>
                </a:solidFill>
                <a:latin typeface="Segoe UI"/>
              </a:rPr>
              <a:t>2,000 AMI consumers disaggregated into 36 months of 1-hour interval readings in 322MB Snappy Parquet.</a:t>
            </a:r>
          </a:p>
          <a:p>
            <a:pPr>
              <a:spcBef>
                <a:spcPts val="800"/>
              </a:spcBef>
              <a:defRPr sz="1050" b="1">
                <a:solidFill>
                  <a:srgbClr val="E1E4D2"/>
                </a:solidFill>
                <a:latin typeface="Segoe UI"/>
              </a:defRPr>
            </a:pPr>
            <a:r>
              <a:t>• Sub-Minute Big Data Execution: </a:t>
            </a:r>
            <a:r>
              <a:rPr sz="950" b="0">
                <a:solidFill>
                  <a:srgbClr val="A0A891"/>
                </a:solidFill>
                <a:latin typeface="Segoe UI"/>
              </a:rPr>
              <a:t>Out-of-core PyArrow batch streaming processes the entire 51.8M dataset in 5.5 minutes using &lt; 200MB 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NEXT-GEN METERING</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High-Frequency Smart Meters: Unmasking Time-of-Use Bypass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Why 1-hour AMI interval streams unlock a 5.5x increase in catching evasive theft</a:t>
            </a:r>
          </a:p>
        </p:txBody>
      </p:sp>
      <p:pic>
        <p:nvPicPr>
          <p:cNvPr id="6" name="Picture 5" descr="smart_meter.jpg"/>
          <p:cNvPicPr>
            <a:picLocks noChangeAspect="1"/>
          </p:cNvPicPr>
          <p:nvPr/>
        </p:nvPicPr>
        <p:blipFill>
          <a:blip r:embed="rId3"/>
          <a:stretch>
            <a:fillRect/>
          </a:stretch>
        </p:blipFill>
        <p:spPr>
          <a:xfrm>
            <a:off x="731520" y="1691640"/>
            <a:ext cx="5486400" cy="3062177"/>
          </a:xfrm>
          <a:prstGeom prst="rect">
            <a:avLst/>
          </a:prstGeom>
        </p:spPr>
      </p:pic>
      <p:sp>
        <p:nvSpPr>
          <p:cNvPr id="7" name="Rounded Rectangle 6"/>
          <p:cNvSpPr/>
          <p:nvPr/>
        </p:nvSpPr>
        <p:spPr>
          <a:xfrm>
            <a:off x="6492240" y="1691640"/>
            <a:ext cx="4967935"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874519"/>
            <a:ext cx="4602175" cy="4206240"/>
          </a:xfrm>
          <a:prstGeom prst="rect">
            <a:avLst/>
          </a:prstGeom>
          <a:noFill/>
        </p:spPr>
        <p:txBody>
          <a:bodyPr wrap="square">
            <a:spAutoFit/>
          </a:bodyPr>
          <a:lstStyle/>
          <a:p>
            <a:pPr>
              <a:defRPr sz="1100" b="1">
                <a:solidFill>
                  <a:srgbClr val="B6F542"/>
                </a:solidFill>
                <a:latin typeface="Trebuchet MS"/>
              </a:defRPr>
            </a:pPr>
            <a:r>
              <a:t>THE AMI TELEMETRY REVOLUTION</a:t>
            </a:r>
          </a:p>
          <a:p>
            <a:pPr>
              <a:spcBef>
                <a:spcPts val="600"/>
              </a:spcBef>
              <a:defRPr sz="1050" b="1">
                <a:solidFill>
                  <a:srgbClr val="E1E4D2"/>
                </a:solidFill>
                <a:latin typeface="Segoe UI"/>
              </a:defRPr>
            </a:pPr>
            <a:r>
              <a:t>• The Peak-Hour Shaver Blindspot: </a:t>
            </a:r>
            <a:r>
              <a:rPr sz="950" b="0">
                <a:solidFill>
                  <a:srgbClr val="A0A891"/>
                </a:solidFill>
                <a:latin typeface="Segoe UI"/>
              </a:rPr>
              <a:t>Consumers who bypass meters only between 6 PM and 10 PM show only a ~6% drop in monthly totals, making them virtually invisible on monthly bills (10.6% recall).</a:t>
            </a:r>
          </a:p>
          <a:p>
            <a:pPr>
              <a:spcBef>
                <a:spcPts val="800"/>
              </a:spcBef>
              <a:defRPr sz="1050" b="1">
                <a:solidFill>
                  <a:srgbClr val="E1E4D2"/>
                </a:solidFill>
                <a:latin typeface="Segoe UI"/>
              </a:defRPr>
            </a:pPr>
            <a:r>
              <a:t>• Hourly Interval Disaggregation: </a:t>
            </a:r>
            <a:r>
              <a:rPr sz="950" b="0">
                <a:solidFill>
                  <a:srgbClr val="A0A891"/>
                </a:solidFill>
                <a:latin typeface="Segoe UI"/>
              </a:rPr>
              <a:t>At 1-hour resolution, the peak window flatline drops to zero while daytime usage remains normal—a glaring, unmistakable theft signature.</a:t>
            </a:r>
          </a:p>
          <a:p>
            <a:pPr>
              <a:spcBef>
                <a:spcPts val="800"/>
              </a:spcBef>
              <a:defRPr sz="1050" b="1">
                <a:solidFill>
                  <a:srgbClr val="E1E4D2"/>
                </a:solidFill>
                <a:latin typeface="Segoe UI"/>
              </a:defRPr>
            </a:pPr>
            <a:r>
              <a:t>• 5.5x Recall Surge (58.3%): </a:t>
            </a:r>
            <a:r>
              <a:rPr sz="950" b="0">
                <a:solidFill>
                  <a:srgbClr val="A0A891"/>
                </a:solidFill>
                <a:latin typeface="Segoe UI"/>
              </a:rPr>
              <a:t>Connecting AMI smart meter data boosts Peak Shaver detection recall by +47.8 points, from 10.6% to 58.3%.</a:t>
            </a:r>
          </a:p>
          <a:p>
            <a:pPr>
              <a:spcBef>
                <a:spcPts val="800"/>
              </a:spcBef>
              <a:defRPr sz="1050" b="1">
                <a:solidFill>
                  <a:srgbClr val="E1E4D2"/>
                </a:solidFill>
                <a:latin typeface="Segoe UI"/>
              </a:defRPr>
            </a:pPr>
            <a:r>
              <a:t>• 75% Bandwidth Cost Reduction: </a:t>
            </a:r>
            <a:r>
              <a:rPr sz="950" b="0">
                <a:solidFill>
                  <a:srgbClr val="A0A891"/>
                </a:solidFill>
                <a:latin typeface="Segoe UI"/>
              </a:rPr>
              <a:t>We prove that 1-hour interval sampling captures &gt;90% of maximum theft signal while cutting cellular SIM transmission costs by 75% vs 15-minute polling.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DOMAIN TAXONOMY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Unmasking 14 Behavioral Archetypes: 8 Theft Vectors &amp; 6 Confounders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Comprehensive mathematical modeling of real-world consumer behavior in Pakistan</a:t>
            </a:r>
          </a:p>
        </p:txBody>
      </p:sp>
      <p:sp>
        <p:nvSpPr>
          <p:cNvPr id="6" name="Rounded Rectangle 5"/>
          <p:cNvSpPr/>
          <p:nvPr/>
        </p:nvSpPr>
        <p:spPr>
          <a:xfrm>
            <a:off x="731520" y="1691640"/>
            <a:ext cx="52120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4206240"/>
          </a:xfrm>
          <a:prstGeom prst="rect">
            <a:avLst/>
          </a:prstGeom>
          <a:noFill/>
        </p:spPr>
        <p:txBody>
          <a:bodyPr wrap="square">
            <a:spAutoFit/>
          </a:bodyPr>
          <a:lstStyle/>
          <a:p>
            <a:pPr>
              <a:defRPr sz="1100" b="1">
                <a:solidFill>
                  <a:srgbClr val="FFB4AB"/>
                </a:solidFill>
                <a:latin typeface="Trebuchet MS"/>
              </a:defRPr>
            </a:pPr>
            <a:r>
              <a:t>8 ILLICIT THEFT ARCHETYPES (8.0% GROUND TRUTH)</a:t>
            </a:r>
          </a:p>
          <a:p>
            <a:pPr>
              <a:spcBef>
                <a:spcPts val="400"/>
              </a:spcBef>
              <a:defRPr sz="1050" b="1">
                <a:solidFill>
                  <a:srgbClr val="E1E4D2"/>
                </a:solidFill>
                <a:latin typeface="Segoe UI"/>
              </a:defRPr>
            </a:pPr>
            <a:r>
              <a:t>• Slab Defender (150): </a:t>
            </a:r>
            <a:r>
              <a:rPr sz="950" b="0">
                <a:solidFill>
                  <a:srgbClr val="A0A891"/>
                </a:solidFill>
                <a:latin typeface="Segoe UI"/>
              </a:rPr>
              <a:t>Pins meter reading below 200/300 kWh threshold to avoid NEPRA punitive slab multipliers.</a:t>
            </a:r>
          </a:p>
          <a:p>
            <a:pPr>
              <a:spcBef>
                <a:spcPts val="400"/>
              </a:spcBef>
              <a:defRPr sz="1050" b="1">
                <a:solidFill>
                  <a:srgbClr val="E1E4D2"/>
                </a:solidFill>
                <a:latin typeface="Segoe UI"/>
              </a:defRPr>
            </a:pPr>
            <a:r>
              <a:t>• Peak Hour Shaver (100): </a:t>
            </a:r>
            <a:r>
              <a:rPr sz="950" b="0">
                <a:solidFill>
                  <a:srgbClr val="A0A891"/>
                </a:solidFill>
                <a:latin typeface="Segoe UI"/>
              </a:rPr>
              <a:t>Shunts load strictly during high-cost peak window (6 PM-10 PM).</a:t>
            </a:r>
          </a:p>
          <a:p>
            <a:pPr>
              <a:spcBef>
                <a:spcPts val="400"/>
              </a:spcBef>
              <a:defRPr sz="1050" b="1">
                <a:solidFill>
                  <a:srgbClr val="E1E4D2"/>
                </a:solidFill>
                <a:latin typeface="Segoe UI"/>
              </a:defRPr>
            </a:pPr>
            <a:r>
              <a:t>• Nighttime AC Shunt (120): </a:t>
            </a:r>
            <a:r>
              <a:rPr sz="950" b="0">
                <a:solidFill>
                  <a:srgbClr val="A0A891"/>
                </a:solidFill>
                <a:latin typeface="Segoe UI"/>
              </a:rPr>
              <a:t>Bypasses meter at night during summer months (11 PM-5 AM) to run heavy bedroom cooling.</a:t>
            </a:r>
          </a:p>
          <a:p>
            <a:pPr>
              <a:spcBef>
                <a:spcPts val="400"/>
              </a:spcBef>
              <a:defRPr sz="1050" b="1">
                <a:solidFill>
                  <a:srgbClr val="E1E4D2"/>
                </a:solidFill>
                <a:latin typeface="Segoe UI"/>
              </a:defRPr>
            </a:pPr>
            <a:r>
              <a:t>• Direct Kunda Hookup (150): </a:t>
            </a:r>
            <a:r>
              <a:rPr sz="950" b="0">
                <a:solidFill>
                  <a:srgbClr val="A0A891"/>
                </a:solidFill>
                <a:latin typeface="Segoe UI"/>
              </a:rPr>
              <a:t>Bare wire over overhead distribution line escalating in 5 stages to 92% bypass.</a:t>
            </a:r>
          </a:p>
          <a:p>
            <a:pPr>
              <a:spcBef>
                <a:spcPts val="400"/>
              </a:spcBef>
              <a:defRPr sz="1050" b="1">
                <a:solidFill>
                  <a:srgbClr val="E1E4D2"/>
                </a:solidFill>
                <a:latin typeface="Segoe UI"/>
              </a:defRPr>
            </a:pPr>
            <a:r>
              <a:t>• Gradual Mechanical Slowdown (100): </a:t>
            </a:r>
            <a:r>
              <a:rPr sz="950" b="0">
                <a:solidFill>
                  <a:srgbClr val="A0A891"/>
                </a:solidFill>
                <a:latin typeface="Segoe UI"/>
              </a:rPr>
              <a:t>Needle/magnetic resistance on analog disc decaying 2-3% each month.</a:t>
            </a:r>
          </a:p>
          <a:p>
            <a:pPr>
              <a:spcBef>
                <a:spcPts val="400"/>
              </a:spcBef>
              <a:defRPr sz="1050" b="1">
                <a:solidFill>
                  <a:srgbClr val="E1E4D2"/>
                </a:solidFill>
                <a:latin typeface="Segoe UI"/>
              </a:defRPr>
            </a:pPr>
            <a:r>
              <a:t>• Fixed Resistor Shunt (100): </a:t>
            </a:r>
            <a:r>
              <a:rPr sz="950" b="0">
                <a:solidFill>
                  <a:srgbClr val="A0A891"/>
                </a:solidFill>
                <a:latin typeface="Segoe UI"/>
              </a:rPr>
              <a:t>Hardware CT resistor shunting 45-55% load year-round.</a:t>
            </a:r>
          </a:p>
          <a:p>
            <a:pPr>
              <a:spcBef>
                <a:spcPts val="400"/>
              </a:spcBef>
              <a:defRPr sz="1050" b="1">
                <a:solidFill>
                  <a:srgbClr val="E1E4D2"/>
                </a:solidFill>
                <a:latin typeface="Segoe UI"/>
              </a:defRPr>
            </a:pPr>
            <a:r>
              <a:t>• Collusion &amp; Intermittent (80): </a:t>
            </a:r>
            <a:r>
              <a:rPr sz="950" b="0">
                <a:solidFill>
                  <a:srgbClr val="A0A891"/>
                </a:solidFill>
                <a:latin typeface="Segoe UI"/>
              </a:rPr>
              <a:t>Corrupt reader routes (shaving 20%) and burst welding/machinery hookups.</a:t>
            </a:r>
          </a:p>
        </p:txBody>
      </p:sp>
      <p:sp>
        <p:nvSpPr>
          <p:cNvPr id="8" name="Rounded Rectangle 7"/>
          <p:cNvSpPr/>
          <p:nvPr/>
        </p:nvSpPr>
        <p:spPr>
          <a:xfrm>
            <a:off x="6217920" y="1691640"/>
            <a:ext cx="52120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46320" cy="4206240"/>
          </a:xfrm>
          <a:prstGeom prst="rect">
            <a:avLst/>
          </a:prstGeom>
          <a:noFill/>
        </p:spPr>
        <p:txBody>
          <a:bodyPr wrap="square">
            <a:spAutoFit/>
          </a:bodyPr>
          <a:lstStyle/>
          <a:p>
            <a:pPr>
              <a:defRPr sz="1100" b="1">
                <a:solidFill>
                  <a:srgbClr val="B6F542"/>
                </a:solidFill>
                <a:latin typeface="Trebuchet MS"/>
              </a:defRPr>
            </a:pPr>
            <a:r>
              <a:t>6 LEGITIMATE CONFOUNDERS (92.0% POPULATION)</a:t>
            </a:r>
          </a:p>
          <a:p>
            <a:pPr>
              <a:spcBef>
                <a:spcPts val="600"/>
              </a:spcBef>
              <a:defRPr sz="1050" b="1">
                <a:solidFill>
                  <a:srgbClr val="E1E4D2"/>
                </a:solidFill>
                <a:latin typeface="Segoe UI"/>
              </a:defRPr>
            </a:pPr>
            <a:r>
              <a:t>• Solar Prosumer (1,200): </a:t>
            </a:r>
            <a:r>
              <a:rPr sz="950" b="0">
                <a:solidFill>
                  <a:srgbClr val="A0A891"/>
                </a:solidFill>
                <a:latin typeface="Segoe UI"/>
              </a:rPr>
              <a:t>Rooftop solar net-metering producing deep midday duck curve, isolated via net-metering gating (0.00% FPR).</a:t>
            </a:r>
          </a:p>
          <a:p>
            <a:pPr>
              <a:spcBef>
                <a:spcPts val="600"/>
              </a:spcBef>
              <a:defRPr sz="1050" b="1">
                <a:solidFill>
                  <a:srgbClr val="E1E4D2"/>
                </a:solidFill>
                <a:latin typeface="Segoe UI"/>
              </a:defRPr>
            </a:pPr>
            <a:r>
              <a:t>• Seasonal Village Traveler (300): </a:t>
            </a:r>
            <a:r>
              <a:rPr sz="950" b="0">
                <a:solidFill>
                  <a:srgbClr val="A0A891"/>
                </a:solidFill>
                <a:latin typeface="Segoe UI"/>
              </a:rPr>
              <a:t>Extended trips to ancestral villages for 1-3 months; sharp 90% drops that mimic sudden theft before rebounding.</a:t>
            </a:r>
          </a:p>
          <a:p>
            <a:pPr>
              <a:spcBef>
                <a:spcPts val="600"/>
              </a:spcBef>
              <a:defRPr sz="1050" b="1">
                <a:solidFill>
                  <a:srgbClr val="E1E4D2"/>
                </a:solidFill>
                <a:latin typeface="Segoe UI"/>
              </a:defRPr>
            </a:pPr>
            <a:r>
              <a:t>• Energy Efficient Upgrade (300): </a:t>
            </a:r>
            <a:r>
              <a:rPr sz="950" b="0">
                <a:solidFill>
                  <a:srgbClr val="A0A891"/>
                </a:solidFill>
                <a:latin typeface="Segoe UI"/>
              </a:rPr>
              <a:t>Permanent 15-35% step-down drop from retrofitting inverter ACs and LED lighting.</a:t>
            </a:r>
          </a:p>
          <a:p>
            <a:pPr>
              <a:spcBef>
                <a:spcPts val="600"/>
              </a:spcBef>
              <a:defRPr sz="1050" b="1">
                <a:solidFill>
                  <a:srgbClr val="E1E4D2"/>
                </a:solidFill>
                <a:latin typeface="Segoe UI"/>
              </a:defRPr>
            </a:pPr>
            <a:r>
              <a:t>• Vacant Properties (500): </a:t>
            </a:r>
            <a:r>
              <a:rPr sz="950" b="0">
                <a:solidFill>
                  <a:srgbClr val="A0A891"/>
                </a:solidFill>
                <a:latin typeface="Segoe UI"/>
              </a:rPr>
              <a:t>Unoccupied homes drawing only phantom standby power (5-15 kWh/month).</a:t>
            </a:r>
          </a:p>
          <a:p>
            <a:pPr>
              <a:spcBef>
                <a:spcPts val="600"/>
              </a:spcBef>
              <a:defRPr sz="1050" b="1">
                <a:solidFill>
                  <a:srgbClr val="E1E4D2"/>
                </a:solidFill>
                <a:latin typeface="Segoe UI"/>
              </a:defRPr>
            </a:pPr>
            <a:r>
              <a:t>• Low-Income Frugal (300): </a:t>
            </a:r>
            <a:r>
              <a:rPr sz="950" b="0">
                <a:solidFill>
                  <a:srgbClr val="A0A891"/>
                </a:solidFill>
                <a:latin typeface="Segoe UI"/>
              </a:rPr>
              <a:t>Lifeline tariff consumers (&lt;50 kWh/mo) with basic lighting and single ceiling fan.</a:t>
            </a:r>
          </a:p>
          <a:p>
            <a:pPr>
              <a:spcBef>
                <a:spcPts val="600"/>
              </a:spcBef>
              <a:defRPr sz="1050" b="1">
                <a:solidFill>
                  <a:srgbClr val="E1E4D2"/>
                </a:solidFill>
                <a:latin typeface="Segoe UI"/>
              </a:defRPr>
            </a:pPr>
            <a:r>
              <a:t>• Standard Household (6,600): </a:t>
            </a:r>
            <a:r>
              <a:rPr sz="950" b="0">
                <a:solidFill>
                  <a:srgbClr val="A0A891"/>
                </a:solidFill>
                <a:latin typeface="Segoe UI"/>
              </a:rPr>
              <a:t>Baseline residential consumption coupled with ambient summer cooling curves.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TELEMETRY SIGNATURES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24-Hour Diurnal Curves: Unmasking Peak Shavers &amp; Solar Ducks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High-frequency interval resolution separates legitimate clean energy from criminal bypass</a:t>
            </a:r>
          </a:p>
        </p:txBody>
      </p:sp>
      <p:sp>
        <p:nvSpPr>
          <p:cNvPr id="6" name="Rounded Rectangle 5"/>
          <p:cNvSpPr/>
          <p:nvPr/>
        </p:nvSpPr>
        <p:spPr>
          <a:xfrm>
            <a:off x="731520" y="1691640"/>
            <a:ext cx="47548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389120" cy="4206240"/>
          </a:xfrm>
          <a:prstGeom prst="rect">
            <a:avLst/>
          </a:prstGeom>
          <a:noFill/>
        </p:spPr>
        <p:txBody>
          <a:bodyPr wrap="square">
            <a:spAutoFit/>
          </a:bodyPr>
          <a:lstStyle/>
          <a:p>
            <a:pPr>
              <a:defRPr sz="1100" b="1">
                <a:solidFill>
                  <a:srgbClr val="45DCEB"/>
                </a:solidFill>
                <a:latin typeface="Trebuchet MS"/>
              </a:defRPr>
            </a:pPr>
            <a:r>
              <a:t>DIURNAL SIGNATURE ANALYSIS</a:t>
            </a:r>
          </a:p>
          <a:p>
            <a:pPr>
              <a:spcBef>
                <a:spcPts val="600"/>
              </a:spcBef>
              <a:defRPr sz="1050" b="1">
                <a:solidFill>
                  <a:srgbClr val="E1E4D2"/>
                </a:solidFill>
                <a:latin typeface="Segoe UI"/>
              </a:defRPr>
            </a:pPr>
            <a:r>
              <a:t>• White Curve (Normal Baseline): </a:t>
            </a:r>
            <a:r>
              <a:rPr sz="950" b="0">
                <a:solidFill>
                  <a:srgbClr val="A0A891"/>
                </a:solidFill>
                <a:latin typeface="Segoe UI"/>
              </a:rPr>
              <a:t>Clear morning peak at 8 AM and evening peak at 8 PM, matching REWD-P empirical Pakistani load profiles.</a:t>
            </a:r>
          </a:p>
          <a:p>
            <a:pPr>
              <a:spcBef>
                <a:spcPts val="800"/>
              </a:spcBef>
              <a:defRPr sz="1050" b="1">
                <a:solidFill>
                  <a:srgbClr val="E1E4D2"/>
                </a:solidFill>
                <a:latin typeface="Segoe UI"/>
              </a:defRPr>
            </a:pPr>
            <a:r>
              <a:t>• Cyan Curve (Solar Duck Curve): </a:t>
            </a:r>
            <a:r>
              <a:rPr sz="950" b="0">
                <a:solidFill>
                  <a:srgbClr val="A0A891"/>
                </a:solidFill>
                <a:latin typeface="Segoe UI"/>
              </a:rPr>
              <a:t>Midday grid draw drops to near-zero between 10 AM and 3 PM during maximum solar irradiance, then rebounds for evening peak.</a:t>
            </a:r>
          </a:p>
          <a:p>
            <a:pPr>
              <a:spcBef>
                <a:spcPts val="800"/>
              </a:spcBef>
              <a:defRPr sz="1050" b="1">
                <a:solidFill>
                  <a:srgbClr val="E1E4D2"/>
                </a:solidFill>
                <a:latin typeface="Segoe UI"/>
              </a:defRPr>
            </a:pPr>
            <a:r>
              <a:t>• Coral Curve (Peak Shaver Theft): </a:t>
            </a:r>
            <a:r>
              <a:rPr sz="950" b="0">
                <a:solidFill>
                  <a:srgbClr val="A0A891"/>
                </a:solidFill>
                <a:latin typeface="Segoe UI"/>
              </a:rPr>
              <a:t>Normal daytime consumption, followed by an abrupt flatline drop during the 6 PM-10 PM peak tariff window.</a:t>
            </a:r>
          </a:p>
          <a:p>
            <a:pPr>
              <a:spcBef>
                <a:spcPts val="800"/>
              </a:spcBef>
              <a:defRPr sz="1050" b="1">
                <a:solidFill>
                  <a:srgbClr val="E1E4D2"/>
                </a:solidFill>
                <a:latin typeface="Segoe UI"/>
              </a:defRPr>
            </a:pPr>
            <a:r>
              <a:t>• Orange Curve (Night AC Shunt): </a:t>
            </a:r>
            <a:r>
              <a:rPr sz="950" b="0">
                <a:solidFill>
                  <a:srgbClr val="A0A891"/>
                </a:solidFill>
                <a:latin typeface="Segoe UI"/>
              </a:rPr>
              <a:t>Heavy power draw during evening, followed by an illicit zero-draw bypass between 11 PM and 5 AM.</a:t>
            </a:r>
          </a:p>
        </p:txBody>
      </p:sp>
      <p:pic>
        <p:nvPicPr>
          <p:cNvPr id="8" name="Picture 7" descr="diurnal_theft_signatures.png"/>
          <p:cNvPicPr>
            <a:picLocks noChangeAspect="1"/>
          </p:cNvPicPr>
          <p:nvPr/>
        </p:nvPicPr>
        <p:blipFill>
          <a:blip r:embed="rId3"/>
          <a:stretch>
            <a:fillRect/>
          </a:stretch>
        </p:blipFill>
        <p:spPr>
          <a:xfrm>
            <a:off x="5760720" y="1691640"/>
            <a:ext cx="5699455" cy="385551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MACHINE LEARNING DESIGN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The Two-Stage Hybrid Inference Engine: Unsupervised + Supervised</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Stacking out-of-fold anomaly scoring with asymmetric cost-weighted boosted ensembles</a:t>
            </a:r>
          </a:p>
        </p:txBody>
      </p:sp>
      <p:sp>
        <p:nvSpPr>
          <p:cNvPr id="6" name="Rounded Rectangle 5"/>
          <p:cNvSpPr/>
          <p:nvPr/>
        </p:nvSpPr>
        <p:spPr>
          <a:xfrm>
            <a:off x="731520"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063240" cy="4114800"/>
          </a:xfrm>
          <a:prstGeom prst="rect">
            <a:avLst/>
          </a:prstGeom>
          <a:noFill/>
        </p:spPr>
        <p:txBody>
          <a:bodyPr wrap="square">
            <a:spAutoFit/>
          </a:bodyPr>
          <a:lstStyle/>
          <a:p>
            <a:pPr>
              <a:defRPr sz="1150" b="1">
                <a:solidFill>
                  <a:srgbClr val="45DCEB"/>
                </a:solidFill>
                <a:latin typeface="Trebuchet MS"/>
              </a:defRPr>
            </a:pPr>
            <a:r>
              <a:t>STAGE 1: ISOLATION FOREST</a:t>
            </a:r>
          </a:p>
          <a:p>
            <a:pPr>
              <a:spcBef>
                <a:spcPts val="600"/>
              </a:spcBef>
              <a:defRPr sz="1050" b="1">
                <a:solidFill>
                  <a:srgbClr val="E1E4D2"/>
                </a:solidFill>
                <a:latin typeface="Segoe UI"/>
              </a:defRPr>
            </a:pPr>
            <a:r>
              <a:t>• Unsupervised Zero-Day Detection: </a:t>
            </a:r>
            <a:r>
              <a:rPr sz="950" b="0">
                <a:solidFill>
                  <a:srgbClr val="A0A891"/>
                </a:solidFill>
                <a:latin typeface="Segoe UI"/>
              </a:rPr>
              <a:t>Standard supervised models fail on novel tampering methods. Isolation Forest isolates abnormal geometric vectors without labels.</a:t>
            </a:r>
          </a:p>
          <a:p>
            <a:pPr>
              <a:spcBef>
                <a:spcPts val="800"/>
              </a:spcBef>
              <a:defRPr sz="1050" b="1">
                <a:solidFill>
                  <a:srgbClr val="E1E4D2"/>
                </a:solidFill>
                <a:latin typeface="Segoe UI"/>
              </a:defRPr>
            </a:pPr>
            <a:r>
              <a:t>• 5-Fold GroupKFold Validation: </a:t>
            </a:r>
            <a:r>
              <a:rPr sz="950" b="0">
                <a:solidFill>
                  <a:srgbClr val="A0A891"/>
                </a:solidFill>
                <a:latin typeface="Segoe UI"/>
              </a:rPr>
              <a:t>Trained grouped strictly by consumer_id across 36 months, preventing temporal or spatial leakage.</a:t>
            </a:r>
          </a:p>
          <a:p>
            <a:pPr>
              <a:spcBef>
                <a:spcPts val="800"/>
              </a:spcBef>
              <a:defRPr sz="1050" b="1">
                <a:solidFill>
                  <a:srgbClr val="E1E4D2"/>
                </a:solidFill>
                <a:latin typeface="Segoe UI"/>
              </a:defRPr>
            </a:pPr>
            <a:r>
              <a:t>• Out-of-Fold Anomaly Score: </a:t>
            </a:r>
            <a:r>
              <a:rPr sz="950" b="0">
                <a:solidFill>
                  <a:srgbClr val="A0A891"/>
                </a:solidFill>
                <a:latin typeface="Segoe UI"/>
              </a:rPr>
              <a:t>Generates an unbiased out-of-fold score fed directly as a feature into the Stage 2 classifier.</a:t>
            </a:r>
          </a:p>
        </p:txBody>
      </p:sp>
      <p:sp>
        <p:nvSpPr>
          <p:cNvPr id="8" name="Rounded Rectangle 7"/>
          <p:cNvSpPr/>
          <p:nvPr/>
        </p:nvSpPr>
        <p:spPr>
          <a:xfrm>
            <a:off x="4370832"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920240"/>
            <a:ext cx="3063240" cy="4114800"/>
          </a:xfrm>
          <a:prstGeom prst="rect">
            <a:avLst/>
          </a:prstGeom>
          <a:noFill/>
        </p:spPr>
        <p:txBody>
          <a:bodyPr wrap="square">
            <a:spAutoFit/>
          </a:bodyPr>
          <a:lstStyle/>
          <a:p>
            <a:pPr>
              <a:defRPr sz="1150" b="1">
                <a:solidFill>
                  <a:srgbClr val="B6F542"/>
                </a:solidFill>
                <a:latin typeface="Trebuchet MS"/>
              </a:defRPr>
            </a:pPr>
            <a:r>
              <a:t>STAGE 2: COST-WEIGHTED XGBOOST</a:t>
            </a:r>
          </a:p>
          <a:p>
            <a:pPr>
              <a:spcBef>
                <a:spcPts val="600"/>
              </a:spcBef>
              <a:defRPr sz="1050" b="1">
                <a:solidFill>
                  <a:srgbClr val="E1E4D2"/>
                </a:solidFill>
                <a:latin typeface="Segoe UI"/>
              </a:defRPr>
            </a:pPr>
            <a:r>
              <a:t>• Asymmetric Cost Weighting: </a:t>
            </a:r>
            <a:r>
              <a:rPr sz="950" b="0">
                <a:solidFill>
                  <a:srgbClr val="A0A891"/>
                </a:solidFill>
                <a:latin typeface="Segoe UI"/>
              </a:rPr>
              <a:t>Enforces scale_pos_weight = 11.5, penalizing missed theft 11.5x more than false alarms to overcome 8% class imbalance.</a:t>
            </a:r>
          </a:p>
          <a:p>
            <a:pPr>
              <a:spcBef>
                <a:spcPts val="800"/>
              </a:spcBef>
              <a:defRPr sz="1050" b="1">
                <a:solidFill>
                  <a:srgbClr val="E1E4D2"/>
                </a:solidFill>
                <a:latin typeface="Segoe UI"/>
              </a:defRPr>
            </a:pPr>
            <a:r>
              <a:t>• Multi-Modal Feature Fusion: </a:t>
            </a:r>
            <a:r>
              <a:rPr sz="950" b="0">
                <a:solidFill>
                  <a:srgbClr val="A0A891"/>
                </a:solidFill>
                <a:latin typeface="Segoe UI"/>
              </a:rPr>
              <a:t>Combines Stage 1 anomaly scores with 12 Track 1 grid features and 7 Track 2 interval ratios.</a:t>
            </a:r>
          </a:p>
          <a:p>
            <a:pPr>
              <a:spcBef>
                <a:spcPts val="800"/>
              </a:spcBef>
              <a:defRPr sz="1050" b="1">
                <a:solidFill>
                  <a:srgbClr val="E1E4D2"/>
                </a:solidFill>
                <a:latin typeface="Segoe UI"/>
              </a:defRPr>
            </a:pPr>
            <a:r>
              <a:t>• TreeSHAP Explainer Engine: </a:t>
            </a:r>
            <a:r>
              <a:rPr sz="950" b="0">
                <a:solidFill>
                  <a:srgbClr val="A0A891"/>
                </a:solidFill>
                <a:latin typeface="Segoe UI"/>
              </a:rPr>
              <a:t>Extracts local Shapley value attributions for every single decision, producing tribunal-grade evidence dockets.</a:t>
            </a:r>
          </a:p>
        </p:txBody>
      </p:sp>
      <p:sp>
        <p:nvSpPr>
          <p:cNvPr id="10" name="Rounded Rectangle 9"/>
          <p:cNvSpPr/>
          <p:nvPr/>
        </p:nvSpPr>
        <p:spPr>
          <a:xfrm>
            <a:off x="8010144" y="1737360"/>
            <a:ext cx="3450031"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920240"/>
            <a:ext cx="3084271" cy="4114800"/>
          </a:xfrm>
          <a:prstGeom prst="rect">
            <a:avLst/>
          </a:prstGeom>
          <a:noFill/>
        </p:spPr>
        <p:txBody>
          <a:bodyPr wrap="square">
            <a:spAutoFit/>
          </a:bodyPr>
          <a:lstStyle/>
          <a:p>
            <a:pPr>
              <a:defRPr sz="1150" b="1">
                <a:solidFill>
                  <a:srgbClr val="FFB4AB"/>
                </a:solidFill>
                <a:latin typeface="Trebuchet MS"/>
              </a:defRPr>
            </a:pPr>
            <a:r>
              <a:t>STAGE 3: PLATT CALIBRATION</a:t>
            </a:r>
          </a:p>
          <a:p>
            <a:pPr>
              <a:spcBef>
                <a:spcPts val="600"/>
              </a:spcBef>
              <a:defRPr sz="1050" b="1">
                <a:solidFill>
                  <a:srgbClr val="E1E4D2"/>
                </a:solidFill>
                <a:latin typeface="Segoe UI"/>
              </a:defRPr>
            </a:pPr>
            <a:r>
              <a:t>• Frozen Logistic Sigmoid: </a:t>
            </a:r>
            <a:r>
              <a:rPr sz="950" b="0">
                <a:solidFill>
                  <a:srgbClr val="A0A891"/>
                </a:solidFill>
                <a:latin typeface="Segoe UI"/>
              </a:rPr>
              <a:t>Uncalibrated boosted trees compress probabilities near 0.1-0.3. FrozenEstimator fits a smooth sigmoid on calibration split.</a:t>
            </a:r>
          </a:p>
          <a:p>
            <a:pPr>
              <a:spcBef>
                <a:spcPts val="800"/>
              </a:spcBef>
              <a:defRPr sz="1050" b="1">
                <a:solidFill>
                  <a:srgbClr val="E1E4D2"/>
                </a:solidFill>
                <a:latin typeface="Segoe UI"/>
              </a:defRPr>
            </a:pPr>
            <a:r>
              <a:t>• Probability Surge to 73.3%: </a:t>
            </a:r>
            <a:r>
              <a:rPr sz="950" b="0">
                <a:solidFill>
                  <a:srgbClr val="A0A891"/>
                </a:solidFill>
                <a:latin typeface="Segoe UI"/>
              </a:rPr>
              <a:t>Scales raw pseudo-probabilities up to 73.3%, providing trustworthy confidence scores for DISCO operations.</a:t>
            </a:r>
          </a:p>
          <a:p>
            <a:pPr>
              <a:spcBef>
                <a:spcPts val="800"/>
              </a:spcBef>
              <a:defRPr sz="1050" b="1">
                <a:solidFill>
                  <a:srgbClr val="E1E4D2"/>
                </a:solidFill>
                <a:latin typeface="Segoe UI"/>
              </a:defRPr>
            </a:pPr>
            <a:r>
              <a:t>• Operational Decision Tiers: </a:t>
            </a:r>
            <a:r>
              <a:rPr sz="950" b="0">
                <a:solidFill>
                  <a:srgbClr val="A0A891"/>
                </a:solidFill>
                <a:latin typeface="Segoe UI"/>
              </a:rPr>
              <a:t>High Risk (P &gt;= 0.70): Field Raid Dispatch.
Medium Risk (0.50 &lt;= P &lt; 0.70): Automated Soft Nudge.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FEATURE ENGINEERING</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19 Advanced Domain Features: Invariance Engineering Defeating Confounders</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Mathematical formulations specifically engineered to eliminate false alarms and detect structural breaks</a:t>
            </a:r>
          </a:p>
        </p:txBody>
      </p:sp>
      <p:sp>
        <p:nvSpPr>
          <p:cNvPr id="6" name="Rounded Rectangle 5"/>
          <p:cNvSpPr/>
          <p:nvPr/>
        </p:nvSpPr>
        <p:spPr>
          <a:xfrm>
            <a:off x="731520" y="173736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1874520"/>
          </a:xfrm>
          <a:prstGeom prst="rect">
            <a:avLst/>
          </a:prstGeom>
          <a:noFill/>
        </p:spPr>
        <p:txBody>
          <a:bodyPr wrap="square">
            <a:spAutoFit/>
          </a:bodyPr>
          <a:lstStyle/>
          <a:p>
            <a:pPr>
              <a:defRPr sz="1100" b="1">
                <a:solidFill>
                  <a:srgbClr val="B6F542"/>
                </a:solidFill>
                <a:latin typeface="Trebuchet MS"/>
              </a:defRPr>
            </a:pPr>
            <a:r>
              <a:t>1. VECTORIZED CUSUM CHANGE-POINT BREAKS</a:t>
            </a:r>
          </a:p>
          <a:p>
            <a:pPr>
              <a:spcBef>
                <a:spcPts val="400"/>
              </a:spcBef>
              <a:defRPr sz="1050" b="1">
                <a:solidFill>
                  <a:srgbClr val="E1E4D2"/>
                </a:solidFill>
                <a:latin typeface="Segoe UI"/>
              </a:defRPr>
            </a:pPr>
            <a:r>
              <a:t>• Break Formula: </a:t>
            </a:r>
            <a:r>
              <a:rPr sz="950" b="0">
                <a:solidFill>
                  <a:srgbClr val="A0A891"/>
                </a:solidFill>
                <a:latin typeface="Segoe UI"/>
              </a:rPr>
              <a:t>S_t = Max(0, S_{t-1} + (Mean_base - x_t) - k). Evaluates cumulative deviation peaks to pinpoint the exact month theft began without future leakage.</a:t>
            </a:r>
          </a:p>
          <a:p>
            <a:pPr>
              <a:spcBef>
                <a:spcPts val="400"/>
              </a:spcBef>
              <a:defRPr sz="1050" b="1">
                <a:solidFill>
                  <a:srgbClr val="E1E4D2"/>
                </a:solidFill>
                <a:latin typeface="Segoe UI"/>
              </a:defRPr>
            </a:pPr>
            <a:r>
              <a:t>• Clean 3-Month Anchor: </a:t>
            </a:r>
            <a:r>
              <a:rPr sz="950" b="0">
                <a:solidFill>
                  <a:srgbClr val="A0A891"/>
                </a:solidFill>
                <a:latin typeface="Segoe UI"/>
              </a:rPr>
              <a:t>Anchoring against uncontaminated initial months prevents rolling baselines from absorbing creeping theft into the 'new normal'.</a:t>
            </a:r>
          </a:p>
        </p:txBody>
      </p:sp>
      <p:sp>
        <p:nvSpPr>
          <p:cNvPr id="8" name="Rounded Rectangle 7"/>
          <p:cNvSpPr/>
          <p:nvPr/>
        </p:nvSpPr>
        <p:spPr>
          <a:xfrm>
            <a:off x="6217920" y="173736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46320" cy="1874520"/>
          </a:xfrm>
          <a:prstGeom prst="rect">
            <a:avLst/>
          </a:prstGeom>
          <a:noFill/>
        </p:spPr>
        <p:txBody>
          <a:bodyPr wrap="square">
            <a:spAutoFit/>
          </a:bodyPr>
          <a:lstStyle/>
          <a:p>
            <a:pPr>
              <a:defRPr sz="1100" b="1">
                <a:solidFill>
                  <a:srgbClr val="45DCEB"/>
                </a:solidFill>
                <a:latin typeface="Trebuchet MS"/>
              </a:defRPr>
            </a:pPr>
            <a:r>
              <a:t>2. PMT PERCENTILE LOSS RANKING</a:t>
            </a:r>
          </a:p>
          <a:p>
            <a:pPr>
              <a:spcBef>
                <a:spcPts val="400"/>
              </a:spcBef>
              <a:defRPr sz="1050" b="1">
                <a:solidFill>
                  <a:srgbClr val="E1E4D2"/>
                </a:solidFill>
                <a:latin typeface="Segoe UI"/>
              </a:defRPr>
            </a:pPr>
            <a:r>
              <a:t>• Monthly Percentile Rank: </a:t>
            </a:r>
            <a:r>
              <a:rPr sz="950" b="0">
                <a:solidFill>
                  <a:srgbClr val="A0A891"/>
                </a:solidFill>
                <a:latin typeface="Segoe UI"/>
              </a:rPr>
              <a:t>Transforms raw transformer technical loss into a normalized 0.0-1.0 percentile rank across all 300 PMTs for each calendar month.</a:t>
            </a:r>
          </a:p>
          <a:p>
            <a:pPr>
              <a:spcBef>
                <a:spcPts val="400"/>
              </a:spcBef>
              <a:defRPr sz="1050" b="1">
                <a:solidFill>
                  <a:srgbClr val="E1E4D2"/>
                </a:solidFill>
                <a:latin typeface="Segoe UI"/>
              </a:defRPr>
            </a:pPr>
            <a:r>
              <a:t>• Weather Invariance: </a:t>
            </a:r>
            <a:r>
              <a:rPr sz="950" b="0">
                <a:solidFill>
                  <a:srgbClr val="A0A891"/>
                </a:solidFill>
                <a:latin typeface="Segoe UI"/>
              </a:rPr>
              <a:t>Eliminates grid-wide summer/winter technical dissipation spikes, isolating localized high-theft transformer pockets.</a:t>
            </a:r>
          </a:p>
        </p:txBody>
      </p:sp>
      <p:sp>
        <p:nvSpPr>
          <p:cNvPr id="10" name="Rounded Rectangle 9"/>
          <p:cNvSpPr/>
          <p:nvPr/>
        </p:nvSpPr>
        <p:spPr>
          <a:xfrm>
            <a:off x="731520" y="411480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51960"/>
            <a:ext cx="4846320" cy="1874520"/>
          </a:xfrm>
          <a:prstGeom prst="rect">
            <a:avLst/>
          </a:prstGeom>
          <a:noFill/>
        </p:spPr>
        <p:txBody>
          <a:bodyPr wrap="square">
            <a:spAutoFit/>
          </a:bodyPr>
          <a:lstStyle/>
          <a:p>
            <a:pPr>
              <a:defRPr sz="1100" b="1">
                <a:solidFill>
                  <a:srgbClr val="FFA726"/>
                </a:solidFill>
                <a:latin typeface="Trebuchet MS"/>
              </a:defRPr>
            </a:pPr>
            <a:r>
              <a:t>3. LOAD-SHEDDING &amp; SOLAR INVARIANCE GATES</a:t>
            </a:r>
          </a:p>
          <a:p>
            <a:pPr>
              <a:spcBef>
                <a:spcPts val="400"/>
              </a:spcBef>
              <a:defRPr sz="1050" b="1">
                <a:solidFill>
                  <a:srgbClr val="E1E4D2"/>
                </a:solidFill>
                <a:latin typeface="Segoe UI"/>
              </a:defRPr>
            </a:pPr>
            <a:r>
              <a:t>• Uptime Normalization: </a:t>
            </a:r>
            <a:r>
              <a:rPr sz="950" b="0">
                <a:solidFill>
                  <a:srgbClr val="A0A891"/>
                </a:solidFill>
                <a:latin typeface="Segoe UI"/>
              </a:rPr>
              <a:t>Consumer deviation divided by feeder uptime percentage: Usage_Dev / Uptime_feeder. If power was cut 25%, usage drop is discounted to zero.</a:t>
            </a:r>
          </a:p>
          <a:p>
            <a:pPr>
              <a:spcBef>
                <a:spcPts val="400"/>
              </a:spcBef>
              <a:defRPr sz="1050" b="1">
                <a:solidFill>
                  <a:srgbClr val="E1E4D2"/>
                </a:solidFill>
                <a:latin typeface="Segoe UI"/>
              </a:defRPr>
            </a:pPr>
            <a:r>
              <a:t>• Solar Net-Metering Gate: </a:t>
            </a:r>
            <a:r>
              <a:rPr sz="950" b="0">
                <a:solidFill>
                  <a:srgbClr val="A0A891"/>
                </a:solidFill>
                <a:latin typeface="Segoe UI"/>
              </a:rPr>
              <a:t>Hard-gated to 0.0 for registered prosumers, eliminating wrongful accusations against solar adoption.</a:t>
            </a:r>
          </a:p>
        </p:txBody>
      </p:sp>
      <p:sp>
        <p:nvSpPr>
          <p:cNvPr id="12" name="Rounded Rectangle 11"/>
          <p:cNvSpPr/>
          <p:nvPr/>
        </p:nvSpPr>
        <p:spPr>
          <a:xfrm>
            <a:off x="6217920" y="4114800"/>
            <a:ext cx="5212080" cy="214884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51960"/>
            <a:ext cx="4846320" cy="1874520"/>
          </a:xfrm>
          <a:prstGeom prst="rect">
            <a:avLst/>
          </a:prstGeom>
          <a:noFill/>
        </p:spPr>
        <p:txBody>
          <a:bodyPr wrap="square">
            <a:spAutoFit/>
          </a:bodyPr>
          <a:lstStyle/>
          <a:p>
            <a:pPr>
              <a:defRPr sz="1100" b="1">
                <a:solidFill>
                  <a:srgbClr val="FFB4AB"/>
                </a:solidFill>
                <a:latin typeface="Trebuchet MS"/>
              </a:defRPr>
            </a:pPr>
            <a:r>
              <a:t>4. 7 SCALE-INVARIANT AMI LOAD RATIOS</a:t>
            </a:r>
          </a:p>
          <a:p>
            <a:pPr>
              <a:spcBef>
                <a:spcPts val="400"/>
              </a:spcBef>
              <a:defRPr sz="1050" b="1">
                <a:solidFill>
                  <a:srgbClr val="E1E4D2"/>
                </a:solidFill>
                <a:latin typeface="Segoe UI"/>
              </a:defRPr>
            </a:pPr>
            <a:r>
              <a:t>• Peak Window Flatline: </a:t>
            </a:r>
            <a:r>
              <a:rPr sz="950" b="0">
                <a:solidFill>
                  <a:srgbClr val="A0A891"/>
                </a:solidFill>
                <a:latin typeface="Segoe UI"/>
              </a:rPr>
              <a:t>Measures fraction of peak hours (6-10 PM) below 0.05 kWh—exposing Peak Shaver bypasses with 5.5x recall gain.</a:t>
            </a:r>
          </a:p>
          <a:p>
            <a:pPr>
              <a:spcBef>
                <a:spcPts val="400"/>
              </a:spcBef>
              <a:defRPr sz="1050" b="1">
                <a:solidFill>
                  <a:srgbClr val="E1E4D2"/>
                </a:solidFill>
                <a:latin typeface="Segoe UI"/>
              </a:defRPr>
            </a:pPr>
            <a:r>
              <a:t>• Night AC &amp; Midday Duck Ratios: </a:t>
            </a:r>
            <a:r>
              <a:rPr sz="950" b="0">
                <a:solidFill>
                  <a:srgbClr val="A0A891"/>
                </a:solidFill>
                <a:latin typeface="Segoe UI"/>
              </a:rPr>
              <a:t>Scale-invariant ratios comparing nocturnal summer draw and midday solar troughs against daily baselines.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BENCHMARK VERIFICATION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Proven Operational Uplift: 19.3x Precision &amp; 5.5x Peak Uplift</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Rigorous out-of-sample evaluation on isolated 20% test splits across 72,000 consumer-months</a:t>
            </a:r>
          </a:p>
        </p:txBody>
      </p:sp>
      <p:sp>
        <p:nvSpPr>
          <p:cNvPr id="6" name="Rounded Rectangle 5"/>
          <p:cNvSpPr/>
          <p:nvPr/>
        </p:nvSpPr>
        <p:spPr>
          <a:xfrm>
            <a:off x="731520" y="1691640"/>
            <a:ext cx="47548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389120" cy="4206240"/>
          </a:xfrm>
          <a:prstGeom prst="rect">
            <a:avLst/>
          </a:prstGeom>
          <a:noFill/>
        </p:spPr>
        <p:txBody>
          <a:bodyPr wrap="square">
            <a:spAutoFit/>
          </a:bodyPr>
          <a:lstStyle/>
          <a:p>
            <a:pPr>
              <a:defRPr sz="1100" b="1">
                <a:solidFill>
                  <a:srgbClr val="B6F542"/>
                </a:solidFill>
                <a:latin typeface="Trebuchet MS"/>
              </a:defRPr>
            </a:pPr>
            <a:r>
              <a:t>RIGOROUS EVALUATION PROOF</a:t>
            </a:r>
          </a:p>
          <a:p>
            <a:pPr>
              <a:spcBef>
                <a:spcPts val="600"/>
              </a:spcBef>
              <a:defRPr sz="1050" b="1">
                <a:solidFill>
                  <a:srgbClr val="E1E4D2"/>
                </a:solidFill>
                <a:latin typeface="Segoe UI"/>
              </a:defRPr>
            </a:pPr>
            <a:r>
              <a:t>• 19.3x Precision Multiplier: </a:t>
            </a:r>
            <a:r>
              <a:rPr sz="950" b="0">
                <a:solidFill>
                  <a:srgbClr val="A0A891"/>
                </a:solidFill>
                <a:latin typeface="Segoe UI"/>
              </a:rPr>
              <a:t>Istikshaf achieves 69.7% precision on standard monthly billing data, compared to the 3.6% baseline yield of random DISCO line audits.</a:t>
            </a:r>
          </a:p>
          <a:p>
            <a:pPr>
              <a:spcBef>
                <a:spcPts val="800"/>
              </a:spcBef>
              <a:defRPr sz="1050" b="1">
                <a:solidFill>
                  <a:srgbClr val="E1E4D2"/>
                </a:solidFill>
                <a:latin typeface="Segoe UI"/>
              </a:defRPr>
            </a:pPr>
            <a:r>
              <a:t>• Recall More Than Doubled: </a:t>
            </a:r>
            <a:r>
              <a:rPr sz="950" b="0">
                <a:solidFill>
                  <a:srgbClr val="A0A891"/>
                </a:solidFill>
                <a:latin typeface="Segoe UI"/>
              </a:rPr>
              <a:t>Overall detection recall rises from 20.3% to 45.7% when AMI smart-meter telemetry is enabled (+25.4 points).</a:t>
            </a:r>
          </a:p>
          <a:p>
            <a:pPr>
              <a:spcBef>
                <a:spcPts val="800"/>
              </a:spcBef>
              <a:defRPr sz="1050" b="1">
                <a:solidFill>
                  <a:srgbClr val="E1E4D2"/>
                </a:solidFill>
                <a:latin typeface="Segoe UI"/>
              </a:defRPr>
            </a:pPr>
            <a:r>
              <a:t>• 5.5x Leap on Peak Evaders: </a:t>
            </a:r>
            <a:r>
              <a:rPr sz="950" b="0">
                <a:solidFill>
                  <a:srgbClr val="A0A891"/>
                </a:solidFill>
                <a:latin typeface="Segoe UI"/>
              </a:rPr>
              <a:t>Peak Shaver recall surges from 10.6% on monthly bills to 58.3% on interval streams (+47.8 points).</a:t>
            </a:r>
          </a:p>
          <a:p>
            <a:pPr>
              <a:spcBef>
                <a:spcPts val="800"/>
              </a:spcBef>
              <a:defRPr sz="1050" b="1">
                <a:solidFill>
                  <a:srgbClr val="E1E4D2"/>
                </a:solidFill>
                <a:latin typeface="Segoe UI"/>
              </a:defRPr>
            </a:pPr>
            <a:r>
              <a:t>• Zero Solar False Alarms: </a:t>
            </a:r>
            <a:r>
              <a:rPr sz="950" b="0">
                <a:solidFill>
                  <a:srgbClr val="A0A891"/>
                </a:solidFill>
                <a:latin typeface="Segoe UI"/>
              </a:rPr>
              <a:t>Maintains 100.00% specificity (0.00% false positive rate) on registered solar net-metering prosumers.</a:t>
            </a:r>
          </a:p>
        </p:txBody>
      </p:sp>
      <p:pic>
        <p:nvPicPr>
          <p:cNvPr id="8" name="Picture 7" descr="ami_uplift_benchmarks.png"/>
          <p:cNvPicPr>
            <a:picLocks noChangeAspect="1"/>
          </p:cNvPicPr>
          <p:nvPr/>
        </p:nvPicPr>
        <p:blipFill>
          <a:blip r:embed="rId3"/>
          <a:stretch>
            <a:fillRect/>
          </a:stretch>
        </p:blipFill>
        <p:spPr>
          <a:xfrm>
            <a:off x="5760720" y="1691640"/>
            <a:ext cx="5699455" cy="385551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AUTONOMOUS ENFORCEMENT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The 8-Agent Autonomous Swarm: Eliminating the Human Bottleneck</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Multi-agent dispatch orchestrator automating triage, deduplication, and field routing</a:t>
            </a:r>
          </a:p>
        </p:txBody>
      </p:sp>
      <p:sp>
        <p:nvSpPr>
          <p:cNvPr id="6" name="Rounded Rectangle 5"/>
          <p:cNvSpPr/>
          <p:nvPr/>
        </p:nvSpPr>
        <p:spPr>
          <a:xfrm>
            <a:off x="731520" y="1737360"/>
            <a:ext cx="2542032"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2267712" cy="4206240"/>
          </a:xfrm>
          <a:prstGeom prst="rect">
            <a:avLst/>
          </a:prstGeom>
          <a:noFill/>
        </p:spPr>
        <p:txBody>
          <a:bodyPr wrap="square">
            <a:spAutoFit/>
          </a:bodyPr>
          <a:lstStyle/>
          <a:p>
            <a:pPr>
              <a:defRPr sz="1100" b="1">
                <a:solidFill>
                  <a:srgbClr val="45DCEB"/>
                </a:solidFill>
                <a:latin typeface="Trebuchet MS"/>
              </a:defRPr>
            </a:pPr>
            <a:r>
              <a:t>1. CONFAIR &amp; AUDIT</a:t>
            </a:r>
          </a:p>
          <a:p>
            <a:pPr>
              <a:spcBef>
                <a:spcPts val="600"/>
              </a:spcBef>
              <a:defRPr sz="1050" b="1">
                <a:solidFill>
                  <a:srgbClr val="E1E4D2"/>
                </a:solidFill>
                <a:latin typeface="Segoe UI"/>
              </a:defRPr>
            </a:pPr>
            <a:r>
              <a:t>• Confound Checker: </a:t>
            </a:r>
            <a:r>
              <a:rPr sz="950" b="0">
                <a:solidFill>
                  <a:srgbClr val="A0A891"/>
                </a:solidFill>
                <a:latin typeface="Segoe UI"/>
              </a:rPr>
              <a:t>Intercepts raw model alerts. Cancels flags if feeder uptime dropped below 80% or solar export is active.</a:t>
            </a:r>
          </a:p>
          <a:p>
            <a:pPr>
              <a:spcBef>
                <a:spcPts val="800"/>
              </a:spcBef>
              <a:defRPr sz="1050" b="1">
                <a:solidFill>
                  <a:srgbClr val="E1E4D2"/>
                </a:solidFill>
                <a:latin typeface="Segoe UI"/>
              </a:defRPr>
            </a:pPr>
            <a:r>
              <a:t>• Audit Logger: </a:t>
            </a:r>
            <a:r>
              <a:rPr sz="950" b="0">
                <a:solidFill>
                  <a:srgbClr val="A0A891"/>
                </a:solidFill>
                <a:latin typeface="Segoe UI"/>
              </a:rPr>
              <a:t>Writes cryptographic, append-only logs for compliance, ensuring every dispatch decision is legally defensible.</a:t>
            </a:r>
          </a:p>
        </p:txBody>
      </p:sp>
      <p:sp>
        <p:nvSpPr>
          <p:cNvPr id="8" name="Rounded Rectangle 7"/>
          <p:cNvSpPr/>
          <p:nvPr/>
        </p:nvSpPr>
        <p:spPr>
          <a:xfrm>
            <a:off x="3456432" y="1737360"/>
            <a:ext cx="2542032"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920240"/>
            <a:ext cx="2267712" cy="4206240"/>
          </a:xfrm>
          <a:prstGeom prst="rect">
            <a:avLst/>
          </a:prstGeom>
          <a:noFill/>
        </p:spPr>
        <p:txBody>
          <a:bodyPr wrap="square">
            <a:spAutoFit/>
          </a:bodyPr>
          <a:lstStyle/>
          <a:p>
            <a:pPr>
              <a:defRPr sz="1100" b="1">
                <a:solidFill>
                  <a:srgbClr val="B6F542"/>
                </a:solidFill>
                <a:latin typeface="Trebuchet MS"/>
              </a:defRPr>
            </a:pPr>
            <a:r>
              <a:t>2. DEDUP &amp; HISTORY</a:t>
            </a:r>
          </a:p>
          <a:p>
            <a:pPr>
              <a:spcBef>
                <a:spcPts val="600"/>
              </a:spcBef>
              <a:defRPr sz="1050" b="1">
                <a:solidFill>
                  <a:srgbClr val="E1E4D2"/>
                </a:solidFill>
                <a:latin typeface="Segoe UI"/>
              </a:defRPr>
            </a:pPr>
            <a:r>
              <a:t>• Case Dedup Guard: </a:t>
            </a:r>
            <a:r>
              <a:rPr sz="950" b="0">
                <a:solidFill>
                  <a:srgbClr val="A0A891"/>
                </a:solidFill>
                <a:latin typeface="Segoe UI"/>
              </a:rPr>
              <a:t>Prevents redundant dispatching by verifying whether an open investigation docket already exists in SQLite.</a:t>
            </a:r>
          </a:p>
          <a:p>
            <a:pPr>
              <a:spcBef>
                <a:spcPts val="800"/>
              </a:spcBef>
              <a:defRPr sz="1050" b="1">
                <a:solidFill>
                  <a:srgbClr val="E1E4D2"/>
                </a:solidFill>
                <a:latin typeface="Segoe UI"/>
              </a:defRPr>
            </a:pPr>
            <a:r>
              <a:t>• Recidivism Checker: </a:t>
            </a:r>
            <a:r>
              <a:rPr sz="950" b="0">
                <a:solidFill>
                  <a:srgbClr val="A0A891"/>
                </a:solidFill>
                <a:latin typeface="Segoe UI"/>
              </a:rPr>
              <a:t>Cross-references repeat offender registries and boosts raid priority for repeat violators caught in prior cycles.</a:t>
            </a:r>
          </a:p>
        </p:txBody>
      </p:sp>
      <p:sp>
        <p:nvSpPr>
          <p:cNvPr id="10" name="Rounded Rectangle 9"/>
          <p:cNvSpPr/>
          <p:nvPr/>
        </p:nvSpPr>
        <p:spPr>
          <a:xfrm>
            <a:off x="6181344" y="1737360"/>
            <a:ext cx="2542032"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920240"/>
            <a:ext cx="2267712" cy="4206240"/>
          </a:xfrm>
          <a:prstGeom prst="rect">
            <a:avLst/>
          </a:prstGeom>
          <a:noFill/>
        </p:spPr>
        <p:txBody>
          <a:bodyPr wrap="square">
            <a:spAutoFit/>
          </a:bodyPr>
          <a:lstStyle/>
          <a:p>
            <a:pPr>
              <a:defRPr sz="1100" b="1">
                <a:solidFill>
                  <a:srgbClr val="FFA726"/>
                </a:solidFill>
                <a:latin typeface="Trebuchet MS"/>
              </a:defRPr>
            </a:pPr>
            <a:r>
              <a:t>3. ROUTING &amp; NUDGE</a:t>
            </a:r>
          </a:p>
          <a:p>
            <a:pPr>
              <a:spcBef>
                <a:spcPts val="600"/>
              </a:spcBef>
              <a:defRPr sz="1050" b="1">
                <a:solidFill>
                  <a:srgbClr val="E1E4D2"/>
                </a:solidFill>
                <a:latin typeface="Segoe UI"/>
              </a:defRPr>
            </a:pPr>
            <a:r>
              <a:t>• Dual-Router Agent: </a:t>
            </a:r>
            <a:r>
              <a:rPr sz="950" b="0">
                <a:solidFill>
                  <a:srgbClr val="A0A891"/>
                </a:solidFill>
                <a:latin typeface="Segoe UI"/>
              </a:rPr>
              <a:t>Splits flags into two channels: detailed SHAP dossiers for HQ analysts, and concise field orders for linemen.</a:t>
            </a:r>
          </a:p>
          <a:p>
            <a:pPr>
              <a:spcBef>
                <a:spcPts val="800"/>
              </a:spcBef>
              <a:defRPr sz="1050" b="1">
                <a:solidFill>
                  <a:srgbClr val="E1E4D2"/>
                </a:solidFill>
                <a:latin typeface="Segoe UI"/>
              </a:defRPr>
            </a:pPr>
            <a:r>
              <a:t>• Soft-Warning Nudge: </a:t>
            </a:r>
            <a:r>
              <a:rPr sz="950" b="0">
                <a:solidFill>
                  <a:srgbClr val="A0A891"/>
                </a:solidFill>
                <a:latin typeface="Segoe UI"/>
              </a:rPr>
              <a:t>Sends automated billing SMS nudges for mid-risk cases (0.50 &lt;= P &lt; 0.70), prompting self-correction with 0 raid costs.</a:t>
            </a:r>
          </a:p>
        </p:txBody>
      </p:sp>
      <p:sp>
        <p:nvSpPr>
          <p:cNvPr id="12" name="Rounded Rectangle 11"/>
          <p:cNvSpPr/>
          <p:nvPr/>
        </p:nvSpPr>
        <p:spPr>
          <a:xfrm>
            <a:off x="8906256" y="1737360"/>
            <a:ext cx="2551176"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920240"/>
            <a:ext cx="2276856" cy="4206240"/>
          </a:xfrm>
          <a:prstGeom prst="rect">
            <a:avLst/>
          </a:prstGeom>
          <a:noFill/>
        </p:spPr>
        <p:txBody>
          <a:bodyPr wrap="square">
            <a:spAutoFit/>
          </a:bodyPr>
          <a:lstStyle/>
          <a:p>
            <a:pPr>
              <a:defRPr sz="1100" b="1">
                <a:solidFill>
                  <a:srgbClr val="FFB4AB"/>
                </a:solidFill>
                <a:latin typeface="Trebuchet MS"/>
              </a:defRPr>
            </a:pPr>
            <a:r>
              <a:t>4. LOCALIZE &amp; PRIVACY</a:t>
            </a:r>
          </a:p>
          <a:p>
            <a:pPr>
              <a:spcBef>
                <a:spcPts val="600"/>
              </a:spcBef>
              <a:defRPr sz="1050" b="1">
                <a:solidFill>
                  <a:srgbClr val="E1E4D2"/>
                </a:solidFill>
                <a:latin typeface="Segoe UI"/>
              </a:defRPr>
            </a:pPr>
            <a:r>
              <a:t>• Urdu Localization: </a:t>
            </a:r>
            <a:r>
              <a:rPr sz="950" b="0">
                <a:solidFill>
                  <a:srgbClr val="A0A891"/>
                </a:solidFill>
                <a:latin typeface="Segoe UI"/>
              </a:rPr>
              <a:t>Translates SHAP vectors into natural Roman Urdu dispatched via SMS to field linemen mobile phones.</a:t>
            </a:r>
          </a:p>
          <a:p>
            <a:pPr>
              <a:spcBef>
                <a:spcPts val="800"/>
              </a:spcBef>
              <a:defRPr sz="1050" b="1">
                <a:solidFill>
                  <a:srgbClr val="E1E4D2"/>
                </a:solidFill>
                <a:latin typeface="Segoe UI"/>
              </a:defRPr>
            </a:pPr>
            <a:r>
              <a:t>• PII Masking Agent: </a:t>
            </a:r>
            <a:r>
              <a:rPr sz="950" b="0">
                <a:solidFill>
                  <a:srgbClr val="A0A891"/>
                </a:solidFill>
                <a:latin typeface="Segoe UI"/>
              </a:rPr>
              <a:t>Hashes and masks consumer identities before external dispatch, preserving consumer privacy.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EXPLAINABILITY &amp; FIELD OPS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Defensible in Court, Actionable on the Street: SHAP &amp; Roman Urdu</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Translating complex mathematical attributions into tribunal evidence and lineman action</a:t>
            </a:r>
          </a:p>
        </p:txBody>
      </p:sp>
      <p:sp>
        <p:nvSpPr>
          <p:cNvPr id="6" name="Rounded Rectangle 5"/>
          <p:cNvSpPr/>
          <p:nvPr/>
        </p:nvSpPr>
        <p:spPr>
          <a:xfrm>
            <a:off x="731520" y="1691640"/>
            <a:ext cx="530352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937760" cy="4206240"/>
          </a:xfrm>
          <a:prstGeom prst="rect">
            <a:avLst/>
          </a:prstGeom>
          <a:noFill/>
        </p:spPr>
        <p:txBody>
          <a:bodyPr wrap="square">
            <a:spAutoFit/>
          </a:bodyPr>
          <a:lstStyle/>
          <a:p>
            <a:pPr>
              <a:defRPr sz="1150" b="1">
                <a:solidFill>
                  <a:srgbClr val="45DCEB"/>
                </a:solidFill>
                <a:latin typeface="Trebuchet MS"/>
              </a:defRPr>
            </a:pPr>
            <a:r>
              <a:t>LEGAL REVENUE PROTECTION DOCKET (ENGLISH)</a:t>
            </a:r>
          </a:p>
          <a:p>
            <a:pPr>
              <a:spcBef>
                <a:spcPts val="400"/>
              </a:spcBef>
              <a:defRPr sz="1050" b="1">
                <a:solidFill>
                  <a:srgbClr val="E1E4D2"/>
                </a:solidFill>
                <a:latin typeface="Segoe UI"/>
              </a:defRPr>
            </a:pPr>
            <a:r>
              <a:t>• Consumer ID: </a:t>
            </a:r>
            <a:r>
              <a:rPr sz="950" b="0">
                <a:solidFill>
                  <a:srgbClr val="A0A891"/>
                </a:solidFill>
                <a:latin typeface="Segoe UI"/>
              </a:rPr>
              <a:t>C-000480 | Sanctioned Load: 15 kW (Commercial Plaza)</a:t>
            </a:r>
          </a:p>
          <a:p>
            <a:pPr>
              <a:spcBef>
                <a:spcPts val="400"/>
              </a:spcBef>
              <a:defRPr sz="1050" b="1">
                <a:solidFill>
                  <a:srgbClr val="E1E4D2"/>
                </a:solidFill>
                <a:latin typeface="Segoe UI"/>
              </a:defRPr>
            </a:pPr>
            <a:r>
              <a:t>• Grid Topology: </a:t>
            </a:r>
            <a:r>
              <a:rPr sz="950" b="0">
                <a:solidFill>
                  <a:srgbClr val="A0A891"/>
                </a:solidFill>
                <a:latin typeface="Segoe UI"/>
              </a:rPr>
              <a:t>Feeder F-12 / PMT-0114 (Transformer Loss: 94th Percentile)</a:t>
            </a:r>
          </a:p>
          <a:p>
            <a:pPr>
              <a:spcBef>
                <a:spcPts val="400"/>
              </a:spcBef>
              <a:defRPr sz="1050" b="1">
                <a:solidFill>
                  <a:srgbClr val="E1E4D2"/>
                </a:solidFill>
                <a:latin typeface="Segoe UI"/>
              </a:defRPr>
            </a:pPr>
            <a:r>
              <a:t>• Calibrated Risk: </a:t>
            </a:r>
            <a:r>
              <a:rPr sz="950" b="0">
                <a:solidFill>
                  <a:srgbClr val="A0A891"/>
                </a:solidFill>
                <a:latin typeface="Segoe UI"/>
              </a:rPr>
              <a:t>71.4% [HIGH RISK - DISPATCH ENFORCEMENT TEAM]</a:t>
            </a:r>
          </a:p>
          <a:p>
            <a:pPr>
              <a:spcBef>
                <a:spcPts val="600"/>
              </a:spcBef>
              <a:defRPr sz="1050" b="1">
                <a:solidFill>
                  <a:srgbClr val="E1E4D2"/>
                </a:solidFill>
                <a:latin typeface="Segoe UI"/>
              </a:defRPr>
            </a:pPr>
            <a:r>
              <a:t>• Primary Factor 1: </a:t>
            </a:r>
            <a:r>
              <a:rPr sz="950" b="0">
                <a:solidFill>
                  <a:srgbClr val="A0A891"/>
                </a:solidFill>
                <a:latin typeface="Segoe UI"/>
              </a:rPr>
              <a:t>Peak Window Flatline: 0.00 kW on 84.6% of peak hours (6-10 PM) despite 3.8 kW daytime draw (SHAP Impact: +0.34).</a:t>
            </a:r>
          </a:p>
          <a:p>
            <a:pPr>
              <a:spcBef>
                <a:spcPts val="600"/>
              </a:spcBef>
              <a:defRPr sz="1050" b="1">
                <a:solidFill>
                  <a:srgbClr val="E1E4D2"/>
                </a:solidFill>
                <a:latin typeface="Segoe UI"/>
              </a:defRPr>
            </a:pPr>
            <a:r>
              <a:t>• Primary Factor 2: </a:t>
            </a:r>
            <a:r>
              <a:rPr sz="950" b="0">
                <a:solidFill>
                  <a:srgbClr val="A0A891"/>
                </a:solidFill>
                <a:latin typeface="Segoe UI"/>
              </a:rPr>
              <a:t>Vectorized CUSUM Break: Abrupt 48% drop detected starting Month 11; persisted continuously for 25 months (SHAP Impact: +0.21).</a:t>
            </a:r>
          </a:p>
          <a:p>
            <a:pPr>
              <a:spcBef>
                <a:spcPts val="600"/>
              </a:spcBef>
              <a:defRPr sz="1050" b="1">
                <a:solidFill>
                  <a:srgbClr val="E1E4D2"/>
                </a:solidFill>
                <a:latin typeface="Segoe UI"/>
              </a:defRPr>
            </a:pPr>
            <a:r>
              <a:t>• Primary Factor 3: </a:t>
            </a:r>
            <a:r>
              <a:rPr sz="950" b="0">
                <a:solidFill>
                  <a:srgbClr val="A0A891"/>
                </a:solidFill>
                <a:latin typeface="Segoe UI"/>
              </a:rPr>
              <a:t>Transformer Energy Balance: PMT-0114 non-technical loss rose by 14.2% concurrently with consumer drop (SHAP Impact: +0.12).</a:t>
            </a:r>
          </a:p>
        </p:txBody>
      </p:sp>
      <p:sp>
        <p:nvSpPr>
          <p:cNvPr id="8" name="Rounded Rectangle 7"/>
          <p:cNvSpPr/>
          <p:nvPr/>
        </p:nvSpPr>
        <p:spPr>
          <a:xfrm>
            <a:off x="6217920" y="1691640"/>
            <a:ext cx="5242255" cy="4572000"/>
          </a:xfrm>
          <a:prstGeom prst="roundRect">
            <a:avLst/>
          </a:prstGeom>
          <a:solidFill>
            <a:srgbClr val="1F2516"/>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76495" cy="4206240"/>
          </a:xfrm>
          <a:prstGeom prst="rect">
            <a:avLst/>
          </a:prstGeom>
          <a:noFill/>
        </p:spPr>
        <p:txBody>
          <a:bodyPr wrap="square">
            <a:spAutoFit/>
          </a:bodyPr>
          <a:lstStyle/>
          <a:p>
            <a:pPr>
              <a:defRPr sz="1150" b="1">
                <a:solidFill>
                  <a:srgbClr val="B6F542"/>
                </a:solidFill>
                <a:latin typeface="Trebuchet MS"/>
              </a:defRPr>
            </a:pPr>
            <a:r>
              <a:t>FIELD CREW SMS DISPATCH (ROMAN URDU)</a:t>
            </a:r>
          </a:p>
          <a:p>
            <a:pPr>
              <a:spcBef>
                <a:spcPts val="800"/>
              </a:spcBef>
              <a:defRPr sz="950" b="1">
                <a:solidFill>
                  <a:srgbClr val="A0A891"/>
                </a:solidFill>
                <a:latin typeface="Consolas"/>
              </a:defRPr>
            </a:pPr>
            <a:r>
              <a:t>📱 MOBILE ALERT SENT TO SDO / LINEMAN IN CHARGE:</a:t>
            </a:r>
          </a:p>
          <a:p>
            <a:pPr>
              <a:spcBef>
                <a:spcPts val="400"/>
              </a:spcBef>
              <a:defRPr sz="1000">
                <a:solidFill>
                  <a:srgbClr val="B6F542"/>
                </a:solidFill>
                <a:latin typeface="Consolas"/>
              </a:defRPr>
            </a:pPr>
            <a:r>
              <a:t>========================================</a:t>
            </a:r>
            <a:br/>
            <a:r>
              <a:t>BA-HAWAALA CONSUMER: C-000480</a:t>
            </a:r>
            <a:br/>
            <a:r>
              <a:t>FEEDER: F-12  |  PMT: PMT-0114</a:t>
            </a:r>
            <a:br/>
            <a:r>
              <a:t>THEFT RISK: 71.4% (INTEHAYI KHATRAK)</a:t>
            </a:r>
            <a:br/>
            <a:r>
              <a:t>----------------------------------------</a:t>
            </a:r>
            <a:br/>
            <a:r>
              <a:t>TAFSEELAT-E-CHOORI:</a:t>
            </a:r>
            <a:br/>
            <a:r>
              <a:t>1. Sham 6 se 10 bajay k doran meter par</a:t>
            </a:r>
            <a:br/>
            <a:r>
              <a:t>   84% load gayab paya gaya hai.</a:t>
            </a:r>
            <a:br/>
            <a:r>
              <a:t>2. PMT-0114 par line loss 14.2% barh chuka</a:t>
            </a:r>
            <a:br/>
            <a:r>
              <a:t>   hai customer k drop k sath.</a:t>
            </a:r>
            <a:br/>
            <a:r>
              <a:t>3. CUSUM break se pata chalta hai k</a:t>
            </a:r>
            <a:br/>
            <a:r>
              <a:t>   tampering 25 mahino se jari hai.</a:t>
            </a:r>
            <a:br/>
            <a:r>
              <a:t>----------------------------------------</a:t>
            </a:r>
            <a:br/>
            <a:r>
              <a:t>HUKM: Fori enforcement team rawana</a:t>
            </a:r>
            <a:br/>
            <a:r>
              <a:t>karein aur bypass switch zabt karein.</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ENTERPRISE PLATFORM</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Istikshaf Grid Noir: Tactical Command Center &amp; 3D Digital Twin</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High-density dark mode desktop application engineered for 24/7 utility control rooms</a:t>
            </a:r>
          </a:p>
        </p:txBody>
      </p:sp>
      <p:sp>
        <p:nvSpPr>
          <p:cNvPr id="6" name="Rounded Rectangle 5"/>
          <p:cNvSpPr/>
          <p:nvPr/>
        </p:nvSpPr>
        <p:spPr>
          <a:xfrm>
            <a:off x="731520"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063240" cy="4114800"/>
          </a:xfrm>
          <a:prstGeom prst="rect">
            <a:avLst/>
          </a:prstGeom>
          <a:noFill/>
        </p:spPr>
        <p:txBody>
          <a:bodyPr wrap="square">
            <a:spAutoFit/>
          </a:bodyPr>
          <a:lstStyle/>
          <a:p>
            <a:pPr>
              <a:defRPr sz="1150" b="1">
                <a:solidFill>
                  <a:srgbClr val="45DCEB"/>
                </a:solidFill>
                <a:latin typeface="Trebuchet MS"/>
              </a:defRPr>
            </a:pPr>
            <a:r>
              <a:t>1. 3D WEBGL DIGITAL TWIN</a:t>
            </a:r>
          </a:p>
          <a:p>
            <a:pPr>
              <a:spcBef>
                <a:spcPts val="600"/>
              </a:spcBef>
              <a:defRPr sz="1050" b="1">
                <a:solidFill>
                  <a:srgbClr val="E1E4D2"/>
                </a:solidFill>
                <a:latin typeface="Segoe UI"/>
              </a:defRPr>
            </a:pPr>
            <a:r>
              <a:t>• Spatial Grid Topology: </a:t>
            </a:r>
            <a:r>
              <a:rPr sz="950" b="0">
                <a:solidFill>
                  <a:srgbClr val="A0A891"/>
                </a:solidFill>
                <a:latin typeface="Segoe UI"/>
              </a:rPr>
              <a:t>Renders 30 11kV primary feeders and 300 pole-mounted transformers in an interactive 3D WebGL force-directed graph.</a:t>
            </a:r>
          </a:p>
          <a:p>
            <a:pPr>
              <a:spcBef>
                <a:spcPts val="800"/>
              </a:spcBef>
              <a:defRPr sz="1050" b="1">
                <a:solidFill>
                  <a:srgbClr val="E1E4D2"/>
                </a:solidFill>
                <a:latin typeface="Segoe UI"/>
              </a:defRPr>
            </a:pPr>
            <a:r>
              <a:t>• Dynamic Load Heatmaps: </a:t>
            </a:r>
            <a:r>
              <a:rPr sz="950" b="0">
                <a:solidFill>
                  <a:srgbClr val="A0A891"/>
                </a:solidFill>
                <a:latin typeface="Segoe UI"/>
              </a:rPr>
              <a:t>Visualizes real-time power injection, technical loss dissipation, and localized transformer overload in high-contrast neon accents.</a:t>
            </a:r>
          </a:p>
          <a:p>
            <a:pPr>
              <a:spcBef>
                <a:spcPts val="800"/>
              </a:spcBef>
              <a:defRPr sz="1050" b="1">
                <a:solidFill>
                  <a:srgbClr val="E1E4D2"/>
                </a:solidFill>
                <a:latin typeface="Segoe UI"/>
              </a:defRPr>
            </a:pPr>
            <a:r>
              <a:t>• Theft Pocket Clustering: </a:t>
            </a:r>
            <a:r>
              <a:rPr sz="950" b="0">
                <a:solidFill>
                  <a:srgbClr val="A0A891"/>
                </a:solidFill>
                <a:latin typeface="Segoe UI"/>
              </a:rPr>
              <a:t>Highlights transformer loss hot-spots where coordinated theft rings operate.</a:t>
            </a:r>
          </a:p>
        </p:txBody>
      </p:sp>
      <p:sp>
        <p:nvSpPr>
          <p:cNvPr id="8" name="Rounded Rectangle 7"/>
          <p:cNvSpPr/>
          <p:nvPr/>
        </p:nvSpPr>
        <p:spPr>
          <a:xfrm>
            <a:off x="4370832" y="1737360"/>
            <a:ext cx="3429000"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920240"/>
            <a:ext cx="3063240" cy="4114800"/>
          </a:xfrm>
          <a:prstGeom prst="rect">
            <a:avLst/>
          </a:prstGeom>
          <a:noFill/>
        </p:spPr>
        <p:txBody>
          <a:bodyPr wrap="square">
            <a:spAutoFit/>
          </a:bodyPr>
          <a:lstStyle/>
          <a:p>
            <a:pPr>
              <a:defRPr sz="1150" b="1">
                <a:solidFill>
                  <a:srgbClr val="B6F542"/>
                </a:solidFill>
                <a:latin typeface="Trebuchet MS"/>
              </a:defRPr>
            </a:pPr>
            <a:r>
              <a:t>2. CONSUMER DEEP-DIVE</a:t>
            </a:r>
          </a:p>
          <a:p>
            <a:pPr>
              <a:spcBef>
                <a:spcPts val="600"/>
              </a:spcBef>
              <a:defRPr sz="1050" b="1">
                <a:solidFill>
                  <a:srgbClr val="E1E4D2"/>
                </a:solidFill>
                <a:latin typeface="Segoe UI"/>
              </a:defRPr>
            </a:pPr>
            <a:r>
              <a:t>• Dual-Horizon Visualizer: </a:t>
            </a:r>
            <a:r>
              <a:rPr sz="950" b="0">
                <a:solidFill>
                  <a:srgbClr val="A0A891"/>
                </a:solidFill>
                <a:latin typeface="Segoe UI"/>
              </a:rPr>
              <a:t>Side-by-side display of 36-month monthly billing history alongside 24-hour diurnal load shapes.</a:t>
            </a:r>
          </a:p>
          <a:p>
            <a:pPr>
              <a:spcBef>
                <a:spcPts val="800"/>
              </a:spcBef>
              <a:defRPr sz="1050" b="1">
                <a:solidFill>
                  <a:srgbClr val="E1E4D2"/>
                </a:solidFill>
                <a:latin typeface="Segoe UI"/>
              </a:defRPr>
            </a:pPr>
            <a:r>
              <a:t>• TreeSHAP Waterfall Cards: </a:t>
            </a:r>
            <a:r>
              <a:rPr sz="950" b="0">
                <a:solidFill>
                  <a:srgbClr val="A0A891"/>
                </a:solidFill>
                <a:latin typeface="Segoe UI"/>
              </a:rPr>
              <a:t>Interactive feature contribution waterfall showing exactly why the consumer was flagged.</a:t>
            </a:r>
          </a:p>
          <a:p>
            <a:pPr>
              <a:spcBef>
                <a:spcPts val="800"/>
              </a:spcBef>
              <a:defRPr sz="1050" b="1">
                <a:solidFill>
                  <a:srgbClr val="E1E4D2"/>
                </a:solidFill>
                <a:latin typeface="Segoe UI"/>
              </a:defRPr>
            </a:pPr>
            <a:r>
              <a:t>• Live Counterfactual Testing: </a:t>
            </a:r>
            <a:r>
              <a:rPr sz="950" b="0">
                <a:solidFill>
                  <a:srgbClr val="A0A891"/>
                </a:solidFill>
                <a:latin typeface="Segoe UI"/>
              </a:rPr>
              <a:t>Admin workbench allowing engineers to simulate load shifts and test model sensitivity.</a:t>
            </a:r>
          </a:p>
        </p:txBody>
      </p:sp>
      <p:sp>
        <p:nvSpPr>
          <p:cNvPr id="10" name="Rounded Rectangle 9"/>
          <p:cNvSpPr/>
          <p:nvPr/>
        </p:nvSpPr>
        <p:spPr>
          <a:xfrm>
            <a:off x="8010144" y="1737360"/>
            <a:ext cx="3450031" cy="448056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920240"/>
            <a:ext cx="3084271" cy="4114800"/>
          </a:xfrm>
          <a:prstGeom prst="rect">
            <a:avLst/>
          </a:prstGeom>
          <a:noFill/>
        </p:spPr>
        <p:txBody>
          <a:bodyPr wrap="square">
            <a:spAutoFit/>
          </a:bodyPr>
          <a:lstStyle/>
          <a:p>
            <a:pPr>
              <a:defRPr sz="1150" b="1">
                <a:solidFill>
                  <a:srgbClr val="FFA726"/>
                </a:solidFill>
                <a:latin typeface="Trebuchet MS"/>
              </a:defRPr>
            </a:pPr>
            <a:r>
              <a:t>3. ENFORCEMENT DISPATCH</a:t>
            </a:r>
          </a:p>
          <a:p>
            <a:pPr>
              <a:spcBef>
                <a:spcPts val="600"/>
              </a:spcBef>
              <a:defRPr sz="1050" b="1">
                <a:solidFill>
                  <a:srgbClr val="E1E4D2"/>
                </a:solidFill>
                <a:latin typeface="Segoe UI"/>
              </a:defRPr>
            </a:pPr>
            <a:r>
              <a:t>• Revenue Recovery Ranker: </a:t>
            </a:r>
            <a:r>
              <a:rPr sz="950" b="0">
                <a:solidFill>
                  <a:srgbClr val="A0A891"/>
                </a:solidFill>
                <a:latin typeface="Segoe UI"/>
              </a:rPr>
              <a:t>Rank-orders field raids by expected financial recovery: Recoverable_PKR = P_theft * Deficit_kWh * Tariff.</a:t>
            </a:r>
          </a:p>
          <a:p>
            <a:pPr>
              <a:spcBef>
                <a:spcPts val="800"/>
              </a:spcBef>
              <a:defRPr sz="1050" b="1">
                <a:solidFill>
                  <a:srgbClr val="E1E4D2"/>
                </a:solidFill>
                <a:latin typeface="Segoe UI"/>
              </a:defRPr>
            </a:pPr>
            <a:r>
              <a:t>• Geospatial Crew Routing: </a:t>
            </a:r>
            <a:r>
              <a:rPr sz="950" b="0">
                <a:solidFill>
                  <a:srgbClr val="A0A891"/>
                </a:solidFill>
                <a:latin typeface="Segoe UI"/>
              </a:rPr>
              <a:t>Clusters nearby high-risk transformers to optimize inspector patrol routes and fuel efficiency.</a:t>
            </a:r>
          </a:p>
          <a:p>
            <a:pPr>
              <a:spcBef>
                <a:spcPts val="800"/>
              </a:spcBef>
              <a:defRPr sz="1050" b="1">
                <a:solidFill>
                  <a:srgbClr val="E1E4D2"/>
                </a:solidFill>
                <a:latin typeface="Segoe UI"/>
              </a:defRPr>
            </a:pPr>
            <a:r>
              <a:t>• One-Click Dispatch: </a:t>
            </a:r>
            <a:r>
              <a:rPr sz="950" b="0">
                <a:solidFill>
                  <a:srgbClr val="A0A891"/>
                </a:solidFill>
                <a:latin typeface="Segoe UI"/>
              </a:rPr>
              <a:t>Triggers automated Roman Urdu SMS dispatch and logs immutable audit trails.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ransmission_lines_dec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5486400" cy="320040"/>
          </a:xfrm>
          <a:prstGeom prst="rect">
            <a:avLst/>
          </a:prstGeom>
          <a:noFill/>
        </p:spPr>
        <p:txBody>
          <a:bodyPr wrap="square" lIns="0" tIns="0" rIns="0" bIns="0">
            <a:spAutoFit/>
          </a:bodyPr>
          <a:lstStyle/>
          <a:p>
            <a:pPr>
              <a:defRPr sz="950" b="1">
                <a:solidFill>
                  <a:srgbClr val="B6F542"/>
                </a:solidFill>
                <a:latin typeface="Consolas"/>
              </a:defRPr>
            </a:pPr>
            <a:r>
              <a:t>BUSINESS CASE &amp; VERDICT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E1E4D2"/>
                </a:solidFill>
                <a:latin typeface="Trebuchet MS"/>
              </a:defRPr>
            </a:pPr>
            <a:r>
              <a:t>Unlocking Billions: The DISCO ROI Model &amp; Sovereign Impact</a:t>
            </a:r>
          </a:p>
        </p:txBody>
      </p:sp>
      <p:sp>
        <p:nvSpPr>
          <p:cNvPr id="5" name="TextBox 4"/>
          <p:cNvSpPr txBox="1"/>
          <p:nvPr/>
        </p:nvSpPr>
        <p:spPr>
          <a:xfrm>
            <a:off x="731520" y="1243584"/>
            <a:ext cx="10698480" cy="365760"/>
          </a:xfrm>
          <a:prstGeom prst="rect">
            <a:avLst/>
          </a:prstGeom>
          <a:noFill/>
        </p:spPr>
        <p:txBody>
          <a:bodyPr wrap="square" lIns="0" tIns="0" rIns="0" bIns="0">
            <a:spAutoFit/>
          </a:bodyPr>
          <a:lstStyle/>
          <a:p>
            <a:pPr>
              <a:defRPr sz="1100">
                <a:solidFill>
                  <a:srgbClr val="A0A891"/>
                </a:solidFill>
                <a:latin typeface="Segoe UI"/>
              </a:defRPr>
            </a:pPr>
            <a:r>
              <a:t>Transforming utility balance sheets and securing Pakistan's energy future</a:t>
            </a:r>
          </a:p>
        </p:txBody>
      </p:sp>
      <p:sp>
        <p:nvSpPr>
          <p:cNvPr id="6" name="Rounded Rectangle 5"/>
          <p:cNvSpPr/>
          <p:nvPr/>
        </p:nvSpPr>
        <p:spPr>
          <a:xfrm>
            <a:off x="731520" y="1691640"/>
            <a:ext cx="4754880" cy="4572000"/>
          </a:xfrm>
          <a:prstGeom prst="roundRect">
            <a:avLst/>
          </a:prstGeom>
          <a:solidFill>
            <a:srgbClr val="181D11"/>
          </a:solidFill>
          <a:ln w="12700">
            <a:solidFill>
              <a:srgbClr val="2E3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389120" cy="4206240"/>
          </a:xfrm>
          <a:prstGeom prst="rect">
            <a:avLst/>
          </a:prstGeom>
          <a:noFill/>
        </p:spPr>
        <p:txBody>
          <a:bodyPr wrap="square">
            <a:spAutoFit/>
          </a:bodyPr>
          <a:lstStyle/>
          <a:p>
            <a:pPr>
              <a:defRPr sz="1100" b="1">
                <a:solidFill>
                  <a:srgbClr val="B6F542"/>
                </a:solidFill>
                <a:latin typeface="Trebuchet MS"/>
              </a:defRPr>
            </a:pPr>
            <a:r>
              <a:t>FINANCIAL MODEL &amp; SOVEREIGN VERDICT</a:t>
            </a:r>
          </a:p>
          <a:p>
            <a:pPr>
              <a:spcBef>
                <a:spcPts val="400"/>
              </a:spcBef>
              <a:defRPr sz="1050" b="1">
                <a:solidFill>
                  <a:srgbClr val="E1E4D2"/>
                </a:solidFill>
                <a:latin typeface="Segoe UI"/>
              </a:defRPr>
            </a:pPr>
            <a:r>
              <a:t>• PKR 14.2 Billion / Year: </a:t>
            </a:r>
            <a:r>
              <a:rPr sz="950" b="0">
                <a:solidFill>
                  <a:srgbClr val="A0A891"/>
                </a:solidFill>
                <a:latin typeface="Segoe UI"/>
              </a:rPr>
              <a:t>Projected net recoverable revenue per major DISCO (LESCO scale: 3.5M consumers) through targeted detection and retroactive recovery.</a:t>
            </a:r>
          </a:p>
          <a:p>
            <a:pPr>
              <a:spcBef>
                <a:spcPts val="600"/>
              </a:spcBef>
              <a:defRPr sz="1050" b="1">
                <a:solidFill>
                  <a:srgbClr val="E1E4D2"/>
                </a:solidFill>
                <a:latin typeface="Segoe UI"/>
              </a:defRPr>
            </a:pPr>
            <a:r>
              <a:t>• 19.3x Raid Efficiency: </a:t>
            </a:r>
            <a:r>
              <a:rPr sz="950" b="0">
                <a:solidFill>
                  <a:srgbClr val="A0A891"/>
                </a:solidFill>
                <a:latin typeface="Segoe UI"/>
              </a:rPr>
              <a:t>Hit rate surges from 3.6% to 69.7%, slashing vehicle fuel and wasted inspector hours by over 80%.</a:t>
            </a:r>
          </a:p>
          <a:p>
            <a:pPr>
              <a:spcBef>
                <a:spcPts val="600"/>
              </a:spcBef>
              <a:defRPr sz="1050" b="1">
                <a:solidFill>
                  <a:srgbClr val="E1E4D2"/>
                </a:solidFill>
                <a:latin typeface="Segoe UI"/>
              </a:defRPr>
            </a:pPr>
            <a:r>
              <a:t>• &lt; 45 Days Payback Period: </a:t>
            </a:r>
            <a:r>
              <a:rPr sz="950" b="0">
                <a:solidFill>
                  <a:srgbClr val="A0A891"/>
                </a:solidFill>
                <a:latin typeface="Segoe UI"/>
              </a:rPr>
              <a:t>Software deployment costs recovered within the first 6 weeks of active operational raids.</a:t>
            </a:r>
          </a:p>
          <a:p>
            <a:pPr>
              <a:spcBef>
                <a:spcPts val="600"/>
              </a:spcBef>
              <a:defRPr sz="1050" b="1">
                <a:solidFill>
                  <a:srgbClr val="E1E4D2"/>
                </a:solidFill>
                <a:latin typeface="Segoe UI"/>
              </a:defRPr>
            </a:pPr>
            <a:r>
              <a:t>• National Sovereign Impact: </a:t>
            </a:r>
            <a:r>
              <a:rPr sz="950" b="0">
                <a:solidFill>
                  <a:srgbClr val="A0A891"/>
                </a:solidFill>
                <a:latin typeface="Segoe UI"/>
              </a:rPr>
              <a:t>Scaling across all 10 DISCOs recovers an estimated PKR 140+ Billion annually, directly cutting Circular Debt by 5% yearly.</a:t>
            </a:r>
          </a:p>
          <a:p>
            <a:pPr>
              <a:spcBef>
                <a:spcPts val="600"/>
              </a:spcBef>
              <a:defRPr sz="1050" b="1">
                <a:solidFill>
                  <a:srgbClr val="E1E4D2"/>
                </a:solidFill>
                <a:latin typeface="Segoe UI"/>
              </a:defRPr>
            </a:pPr>
            <a:r>
              <a:t>• Deployment-Ready Platform: </a:t>
            </a:r>
            <a:r>
              <a:rPr sz="950" b="0">
                <a:solidFill>
                  <a:srgbClr val="A0A891"/>
                </a:solidFill>
                <a:latin typeface="Segoe UI"/>
              </a:rPr>
              <a:t>Audited, physics-grounded, and ready for 90-day pilot deployment on high-loss 11kV feeders.</a:t>
            </a:r>
          </a:p>
          <a:p>
            <a:pPr>
              <a:spcBef>
                <a:spcPts val="600"/>
              </a:spcBef>
              <a:defRPr sz="1050" b="1">
                <a:solidFill>
                  <a:srgbClr val="45DCEB"/>
                </a:solidFill>
                <a:latin typeface="Segoe UI"/>
              </a:defRPr>
            </a:pPr>
            <a:r>
              <a:t>• The Engineering Team: </a:t>
            </a:r>
            <a:r>
              <a:rPr sz="950" b="0">
                <a:solidFill>
                  <a:srgbClr val="A0A891"/>
                </a:solidFill>
                <a:latin typeface="Segoe UI"/>
              </a:rPr>
              <a:t>Hadiah Batool, Hashim Khushal Khan, Hamza Sultan, Huda Ali.</a:t>
            </a:r>
          </a:p>
        </p:txBody>
      </p:sp>
      <p:pic>
        <p:nvPicPr>
          <p:cNvPr id="8" name="Picture 7" descr="roi_recovery.png"/>
          <p:cNvPicPr>
            <a:picLocks noChangeAspect="1"/>
          </p:cNvPicPr>
          <p:nvPr/>
        </p:nvPicPr>
        <p:blipFill>
          <a:blip r:embed="rId3"/>
          <a:stretch>
            <a:fillRect/>
          </a:stretch>
        </p:blipFill>
        <p:spPr>
          <a:xfrm>
            <a:off x="5760720" y="1691640"/>
            <a:ext cx="5699455" cy="38555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